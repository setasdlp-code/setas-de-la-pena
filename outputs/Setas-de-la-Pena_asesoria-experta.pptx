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e78885eb6940ba" /><Relationship Type="http://schemas.openxmlformats.org/officeDocument/2006/relationships/extended-properties" Target="/docProps/app.xml" Id="R24dc2bb1d0454dec" /><Relationship Type="http://schemas.openxmlformats.org/officeDocument/2006/relationships/officeDocument" Target="/ppt/presentation.xml" Id="Reafb111df5174c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1e2bcbc7724ad2"/>
  </p:sldMasterIdLst>
  <p:notesMasterIdLst>
    <p:notesMasterId xmlns:r="http://schemas.openxmlformats.org/officeDocument/2006/relationships" r:id="R741cb54d85644c59"/>
  </p:notesMasterIdLst>
  <p:sldIdLst>
    <p:sldId xmlns:r="http://schemas.openxmlformats.org/officeDocument/2006/relationships" id="256" r:id="R9a9091946778496f"/>
    <p:sldId xmlns:r="http://schemas.openxmlformats.org/officeDocument/2006/relationships" id="257" r:id="R31c8c86ff0904289"/>
    <p:sldId xmlns:r="http://schemas.openxmlformats.org/officeDocument/2006/relationships" id="258" r:id="R4bb2afd7b58e4761"/>
    <p:sldId xmlns:r="http://schemas.openxmlformats.org/officeDocument/2006/relationships" id="259" r:id="Ra3cb38fccc884fe5"/>
    <p:sldId xmlns:r="http://schemas.openxmlformats.org/officeDocument/2006/relationships" id="260" r:id="R6237cb4675cf4125"/>
    <p:sldId xmlns:r="http://schemas.openxmlformats.org/officeDocument/2006/relationships" id="261" r:id="Rffed95e614214285"/>
    <p:sldId xmlns:r="http://schemas.openxmlformats.org/officeDocument/2006/relationships" id="262" r:id="R78509c52b9444513"/>
    <p:sldId xmlns:r="http://schemas.openxmlformats.org/officeDocument/2006/relationships" id="263" r:id="Ra8bbe63aff2e418e"/>
    <p:sldId xmlns:r="http://schemas.openxmlformats.org/officeDocument/2006/relationships" id="264" r:id="Rd82211a02c5a4b7b"/>
    <p:sldId xmlns:r="http://schemas.openxmlformats.org/officeDocument/2006/relationships" id="265" r:id="Rea92e4f4d900427c"/>
    <p:sldId xmlns:r="http://schemas.openxmlformats.org/officeDocument/2006/relationships" id="266" r:id="Ra501e9d88b04452e"/>
    <p:sldId xmlns:r="http://schemas.openxmlformats.org/officeDocument/2006/relationships" id="267" r:id="R5447120f61bf46e1"/>
    <p:sldId xmlns:r="http://schemas.openxmlformats.org/officeDocument/2006/relationships" id="268" r:id="Rfa646f4f59804e75"/>
    <p:sldId xmlns:r="http://schemas.openxmlformats.org/officeDocument/2006/relationships" id="269" r:id="R41eaa26c53f34ee9"/>
    <p:sldId xmlns:r="http://schemas.openxmlformats.org/officeDocument/2006/relationships" id="270" r:id="R8488d52e3cda42a6"/>
    <p:sldId xmlns:r="http://schemas.openxmlformats.org/officeDocument/2006/relationships" id="271" r:id="Rd1bf3bac22204475"/>
    <p:sldId xmlns:r="http://schemas.openxmlformats.org/officeDocument/2006/relationships" id="272" r:id="R05a55a7a3d18417d"/>
    <p:sldId xmlns:r="http://schemas.openxmlformats.org/officeDocument/2006/relationships" id="273" r:id="Re050a080698b4427"/>
    <p:sldId xmlns:r="http://schemas.openxmlformats.org/officeDocument/2006/relationships" id="274" r:id="R1dbf9a66b61a4f68"/>
    <p:sldId xmlns:r="http://schemas.openxmlformats.org/officeDocument/2006/relationships" id="275" r:id="R58ab8eadc21b43b9"/>
    <p:sldId xmlns:r="http://schemas.openxmlformats.org/officeDocument/2006/relationships" id="276" r:id="Ra74bd62ddf824e2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8c10c2a89d49b4" /><Relationship Type="http://schemas.openxmlformats.org/officeDocument/2006/relationships/slideMaster" Target="/ppt/slideMasters/slideMaster1.xml" Id="R111e2bcbc7724ad2" /><Relationship Type="http://schemas.openxmlformats.org/officeDocument/2006/relationships/notesMaster" Target="/ppt/notesMasters/notesMaster1.xml" Id="R741cb54d85644c59" /><Relationship Type="http://schemas.openxmlformats.org/officeDocument/2006/relationships/presProps" Target="/ppt/presProps.xml" Id="R6d96ca32a56f477d" /><Relationship Type="http://schemas.openxmlformats.org/officeDocument/2006/relationships/tableStyles" Target="/ppt/tableStyles.xml" Id="R3b1ec214d2824aa3" /><Relationship Type="http://schemas.openxmlformats.org/officeDocument/2006/relationships/slide" Target="/ppt/slides/slide1.xml" Id="R9a9091946778496f" /><Relationship Type="http://schemas.openxmlformats.org/officeDocument/2006/relationships/slide" Target="/ppt/slides/slide2.xml" Id="R31c8c86ff0904289" /><Relationship Type="http://schemas.openxmlformats.org/officeDocument/2006/relationships/slide" Target="/ppt/slides/slide3.xml" Id="R4bb2afd7b58e4761" /><Relationship Type="http://schemas.openxmlformats.org/officeDocument/2006/relationships/slide" Target="/ppt/slides/slide4.xml" Id="Ra3cb38fccc884fe5" /><Relationship Type="http://schemas.openxmlformats.org/officeDocument/2006/relationships/slide" Target="/ppt/slides/slide5.xml" Id="R6237cb4675cf4125" /><Relationship Type="http://schemas.openxmlformats.org/officeDocument/2006/relationships/slide" Target="/ppt/slides/slide6.xml" Id="Rffed95e614214285" /><Relationship Type="http://schemas.openxmlformats.org/officeDocument/2006/relationships/slide" Target="/ppt/slides/slide7.xml" Id="R78509c52b9444513" /><Relationship Type="http://schemas.openxmlformats.org/officeDocument/2006/relationships/slide" Target="/ppt/slides/slide8.xml" Id="Ra8bbe63aff2e418e" /><Relationship Type="http://schemas.openxmlformats.org/officeDocument/2006/relationships/slide" Target="/ppt/slides/slide9.xml" Id="Rd82211a02c5a4b7b" /><Relationship Type="http://schemas.openxmlformats.org/officeDocument/2006/relationships/slide" Target="/ppt/slides/slide10.xml" Id="Rea92e4f4d900427c" /><Relationship Type="http://schemas.openxmlformats.org/officeDocument/2006/relationships/slide" Target="/ppt/slides/slide11.xml" Id="Ra501e9d88b04452e" /><Relationship Type="http://schemas.openxmlformats.org/officeDocument/2006/relationships/slide" Target="/ppt/slides/slide12.xml" Id="R5447120f61bf46e1" /><Relationship Type="http://schemas.openxmlformats.org/officeDocument/2006/relationships/slide" Target="/ppt/slides/slide13.xml" Id="Rfa646f4f59804e75" /><Relationship Type="http://schemas.openxmlformats.org/officeDocument/2006/relationships/slide" Target="/ppt/slides/slide14.xml" Id="R41eaa26c53f34ee9" /><Relationship Type="http://schemas.openxmlformats.org/officeDocument/2006/relationships/slide" Target="/ppt/slides/slide15.xml" Id="R8488d52e3cda42a6" /><Relationship Type="http://schemas.openxmlformats.org/officeDocument/2006/relationships/slide" Target="/ppt/slides/slide16.xml" Id="Rd1bf3bac22204475" /><Relationship Type="http://schemas.openxmlformats.org/officeDocument/2006/relationships/slide" Target="/ppt/slides/slide17.xml" Id="R05a55a7a3d18417d" /><Relationship Type="http://schemas.openxmlformats.org/officeDocument/2006/relationships/slide" Target="/ppt/slides/slide18.xml" Id="Re050a080698b4427" /><Relationship Type="http://schemas.openxmlformats.org/officeDocument/2006/relationships/slide" Target="/ppt/slides/slide19.xml" Id="R1dbf9a66b61a4f68" /><Relationship Type="http://schemas.openxmlformats.org/officeDocument/2006/relationships/slide" Target="/ppt/slides/slide20.xml" Id="R58ab8eadc21b43b9" /><Relationship Type="http://schemas.openxmlformats.org/officeDocument/2006/relationships/slide" Target="/ppt/slides/slide21.xml" Id="Ra74bd62ddf824e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91657ad3454e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6cb6495d214de1" /><Relationship Type="http://schemas.openxmlformats.org/officeDocument/2006/relationships/notesMaster" Target="/ppt/notesMasters/notesMaster1.xml" Id="R614b4c1663a146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412a7c05084953" /><Relationship Type="http://schemas.openxmlformats.org/officeDocument/2006/relationships/notesMaster" Target="/ppt/notesMasters/notesMaster1.xml" Id="Rba46a2adf95644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2c8b9555e045b2" /><Relationship Type="http://schemas.openxmlformats.org/officeDocument/2006/relationships/notesMaster" Target="/ppt/notesMasters/notesMaster1.xml" Id="Rf9267527a94b46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11868f2ca8466a" /><Relationship Type="http://schemas.openxmlformats.org/officeDocument/2006/relationships/notesMaster" Target="/ppt/notesMasters/notesMaster1.xml" Id="Rbc6d08cfb22e46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bc04f015eb4b15" /><Relationship Type="http://schemas.openxmlformats.org/officeDocument/2006/relationships/notesMaster" Target="/ppt/notesMasters/notesMaster1.xml" Id="Rc7267b1300314f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613058a5be4104" /><Relationship Type="http://schemas.openxmlformats.org/officeDocument/2006/relationships/notesMaster" Target="/ppt/notesMasters/notesMaster1.xml" Id="R54c3e6534eff4a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8875aa95a84cff" /><Relationship Type="http://schemas.openxmlformats.org/officeDocument/2006/relationships/notesMaster" Target="/ppt/notesMasters/notesMaster1.xml" Id="R3bab32a0f11b43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d66f267e754038" /><Relationship Type="http://schemas.openxmlformats.org/officeDocument/2006/relationships/notesMaster" Target="/ppt/notesMasters/notesMaster1.xml" Id="Rf3079620393e4f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608d34c0b14779" /><Relationship Type="http://schemas.openxmlformats.org/officeDocument/2006/relationships/notesMaster" Target="/ppt/notesMasters/notesMaster1.xml" Id="R552af85390bc4e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739b5b7ca14de0" /><Relationship Type="http://schemas.openxmlformats.org/officeDocument/2006/relationships/notesMaster" Target="/ppt/notesMasters/notesMaster1.xml" Id="R6ff22bc0f48941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e362f41a3e472a" /><Relationship Type="http://schemas.openxmlformats.org/officeDocument/2006/relationships/notesMaster" Target="/ppt/notesMasters/notesMaster1.xml" Id="R677358f401e64e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405bce3ddb4b77" /><Relationship Type="http://schemas.openxmlformats.org/officeDocument/2006/relationships/notesMaster" Target="/ppt/notesMasters/notesMaster1.xml" Id="R2fc01d7929274e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99bf7116ec4f22" /><Relationship Type="http://schemas.openxmlformats.org/officeDocument/2006/relationships/notesMaster" Target="/ppt/notesMasters/notesMaster1.xml" Id="R493b146eb07145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b38531015354bcb" /><Relationship Type="http://schemas.openxmlformats.org/officeDocument/2006/relationships/notesMaster" Target="/ppt/notesMasters/notesMaster1.xml" Id="R6220744367a942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8b2c59378c840bb" /><Relationship Type="http://schemas.openxmlformats.org/officeDocument/2006/relationships/notesMaster" Target="/ppt/notesMasters/notesMaster1.xml" Id="R2416ba0073a24b5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7e2205b941842d1" /><Relationship Type="http://schemas.openxmlformats.org/officeDocument/2006/relationships/notesMaster" Target="/ppt/notesMasters/notesMaster1.xml" Id="R06defbd093dc45d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00d9881261044bb" /><Relationship Type="http://schemas.openxmlformats.org/officeDocument/2006/relationships/notesMaster" Target="/ppt/notesMasters/notesMaster1.xml" Id="R80e06aee0a584c3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de28bea1aad4a5a" /><Relationship Type="http://schemas.openxmlformats.org/officeDocument/2006/relationships/notesMaster" Target="/ppt/notesMasters/notesMaster1.xml" Id="Rbadb8d5db67f45c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df3dc33bb554328" /><Relationship Type="http://schemas.openxmlformats.org/officeDocument/2006/relationships/notesMaster" Target="/ppt/notesMasters/notesMaster1.xml" Id="Re26960f41dda438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0ba30d9b4f84794" /><Relationship Type="http://schemas.openxmlformats.org/officeDocument/2006/relationships/notesMaster" Target="/ppt/notesMasters/notesMaster1.xml" Id="Rbe591cca0ba04f4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e635436ac06415d" /><Relationship Type="http://schemas.openxmlformats.org/officeDocument/2006/relationships/notesMaster" Target="/ppt/notesMasters/notesMaster1.xml" Id="Rd1f7146bac3141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1b7d9f6dbc43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36041e0dba4079" /><Relationship Type="http://schemas.openxmlformats.org/officeDocument/2006/relationships/slideLayout" Target="/ppt/slideLayouts/slideLayout1.xml" Id="R4d1b0815e3cd44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1b0815e3cd44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ba02968db41a3" /><Relationship Type="http://schemas.openxmlformats.org/officeDocument/2006/relationships/image" Target="/ppt/media/image.png" Id="R72d73612d0b44132" /><Relationship Type="http://schemas.openxmlformats.org/officeDocument/2006/relationships/notesSlide" Target="/ppt/notesSlides/notesSlide1.xml" Id="R096d83afd3aa4c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f6b416da04d9a" /><Relationship Type="http://schemas.openxmlformats.org/officeDocument/2006/relationships/notesSlide" Target="/ppt/notesSlides/notesSlide2.xml" Id="Rb86e0d7dc87943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a4d050ada40f9" /><Relationship Type="http://schemas.openxmlformats.org/officeDocument/2006/relationships/notesSlide" Target="/ppt/notesSlides/notesSlide3.xml" Id="R299cc080de4e4e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1d9515c0e40f1" /><Relationship Type="http://schemas.openxmlformats.org/officeDocument/2006/relationships/image" Target="/ppt/media/image.jpeg" Id="Rb7b85cb1d5dc480e" /><Relationship Type="http://schemas.openxmlformats.org/officeDocument/2006/relationships/notesSlide" Target="/ppt/notesSlides/notesSlide4.xml" Id="Rfadde8b5b6c040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42967893046d3" /><Relationship Type="http://schemas.openxmlformats.org/officeDocument/2006/relationships/image" Target="/ppt/media/image2.png" Id="Rcee4deb2531c42f0" /><Relationship Type="http://schemas.openxmlformats.org/officeDocument/2006/relationships/notesSlide" Target="/ppt/notesSlides/notesSlide5.xml" Id="R98b6863195694b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a2dbaec1e4e7b" /><Relationship Type="http://schemas.openxmlformats.org/officeDocument/2006/relationships/notesSlide" Target="/ppt/notesSlides/notesSlide6.xml" Id="R083cf034a53d42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3c9407f524fd4" /><Relationship Type="http://schemas.openxmlformats.org/officeDocument/2006/relationships/notesSlide" Target="/ppt/notesSlides/notesSlide7.xml" Id="Rb26469d8cc2b44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4960b375b49ae" /><Relationship Type="http://schemas.openxmlformats.org/officeDocument/2006/relationships/image" Target="/ppt/media/image3.png" Id="Rc7d21ba2a98d4e5e" /><Relationship Type="http://schemas.openxmlformats.org/officeDocument/2006/relationships/notesSlide" Target="/ppt/notesSlides/notesSlide8.xml" Id="R3014300dc82a40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69feb07f24869" /><Relationship Type="http://schemas.openxmlformats.org/officeDocument/2006/relationships/image" Target="/ppt/media/image2.jpeg" Id="R8cea0b44902e4f76" /><Relationship Type="http://schemas.openxmlformats.org/officeDocument/2006/relationships/notesSlide" Target="/ppt/notesSlides/notesSlide9.xml" Id="R14cacb52d51343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dcbd54ff44ad1" /><Relationship Type="http://schemas.openxmlformats.org/officeDocument/2006/relationships/notesSlide" Target="/ppt/notesSlides/notesSlide10.xml" Id="R3fe95b4574af40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4356da4294d09" /><Relationship Type="http://schemas.openxmlformats.org/officeDocument/2006/relationships/notesSlide" Target="/ppt/notesSlides/notesSlide11.xml" Id="Rbffe0763fd324a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3c11d9b7b4947" /><Relationship Type="http://schemas.openxmlformats.org/officeDocument/2006/relationships/image" Target="/ppt/media/image4.png" Id="R414ac2c9726646c8" /><Relationship Type="http://schemas.openxmlformats.org/officeDocument/2006/relationships/notesSlide" Target="/ppt/notesSlides/notesSlide12.xml" Id="R71c7fe5d7c4843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6f2b6966b463f" /><Relationship Type="http://schemas.openxmlformats.org/officeDocument/2006/relationships/notesSlide" Target="/ppt/notesSlides/notesSlide13.xml" Id="R18a0ebe391cb44b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e4c99607643eb" /><Relationship Type="http://schemas.openxmlformats.org/officeDocument/2006/relationships/notesSlide" Target="/ppt/notesSlides/notesSlide14.xml" Id="Rd07750056e10474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f5473bcc5469c" /><Relationship Type="http://schemas.openxmlformats.org/officeDocument/2006/relationships/notesSlide" Target="/ppt/notesSlides/notesSlide15.xml" Id="R02e666490c3641c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dec1652f342cf" /><Relationship Type="http://schemas.openxmlformats.org/officeDocument/2006/relationships/image" Target="/ppt/media/image5.png" Id="Rcc66b904388542ed" /><Relationship Type="http://schemas.openxmlformats.org/officeDocument/2006/relationships/image" Target="/ppt/media/image6.png" Id="R13528c8133f4416b" /><Relationship Type="http://schemas.openxmlformats.org/officeDocument/2006/relationships/image" Target="/ppt/media/image7.png" Id="R0de2fbb956af4b14" /><Relationship Type="http://schemas.openxmlformats.org/officeDocument/2006/relationships/image" Target="/ppt/media/image8.png" Id="R2e29c826a2fe4e94" /><Relationship Type="http://schemas.openxmlformats.org/officeDocument/2006/relationships/notesSlide" Target="/ppt/notesSlides/notesSlide16.xml" Id="R8c51efa6002c492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d96ca06054ad9" /><Relationship Type="http://schemas.openxmlformats.org/officeDocument/2006/relationships/image" Target="/ppt/media/image3.jpeg" Id="Rf3bb9204a22d4fdd" /><Relationship Type="http://schemas.openxmlformats.org/officeDocument/2006/relationships/notesSlide" Target="/ppt/notesSlides/notesSlide17.xml" Id="Rd02aa4c06fb84a7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330c451ba4053" /><Relationship Type="http://schemas.openxmlformats.org/officeDocument/2006/relationships/image" Target="/ppt/media/image4.jpeg" Id="Rd5912100355149ab" /><Relationship Type="http://schemas.openxmlformats.org/officeDocument/2006/relationships/notesSlide" Target="/ppt/notesSlides/notesSlide18.xml" Id="Rc64284f9696440d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a1afaaf854262" /><Relationship Type="http://schemas.openxmlformats.org/officeDocument/2006/relationships/image" Target="/ppt/media/image5.jpeg" Id="Rec77cce003d54f3d" /><Relationship Type="http://schemas.openxmlformats.org/officeDocument/2006/relationships/notesSlide" Target="/ppt/notesSlides/notesSlide19.xml" Id="Ra35763d839a440d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76e3fdd494662" /><Relationship Type="http://schemas.openxmlformats.org/officeDocument/2006/relationships/image" Target="/ppt/media/image6.jpeg" Id="Rd9fe9487a79e46d6" /><Relationship Type="http://schemas.openxmlformats.org/officeDocument/2006/relationships/notesSlide" Target="/ppt/notesSlides/notesSlide20.xml" Id="Ra06d0cb1a53f4c6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16696b3674c74" /><Relationship Type="http://schemas.openxmlformats.org/officeDocument/2006/relationships/image" Target="/ppt/media/image7.jpeg" Id="R23aa36a5fb614747" /><Relationship Type="http://schemas.openxmlformats.org/officeDocument/2006/relationships/notesSlide" Target="/ppt/notesSlides/notesSlide21.xml" Id="Re581c1a66fab4e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1F4E1-CAA4-4133-84D3-E5990E7A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87153-8169-4D63-BB4A-80FBCF36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DOCUMENTO DE TRABAJO · ASESORÍA EXPERTA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E9C81-6952-4B8A-8721-2B069469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86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REV. JUL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80E8C-779F-41F5-B023-284B8C16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51D3A2A-BFBF-4411-A6E8-AE8B1157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514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43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Setas de la Peña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FE61F-D59F-429A-8E28-4F924DAF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1">
                <a:solidFill>
                  <a:srgbClr val="5F7048"/>
                </a:solidFill>
                <a:latin typeface="Georgia"/>
                <a:ea typeface="Georgia"/>
                <a:cs typeface="Georgia"/>
              </a:defRPr>
            </a:pPr>
            <a:r>
              <a:rPr sz="2025" b="1" i="1">
                <a:solidFill>
                  <a:srgbClr val="5F7048"/>
                </a:solidFill>
                <a:latin typeface="Georgia"/>
                <a:ea typeface="Georgia"/>
                <a:cs typeface="Georgia"/>
              </a:rPr>
              <a:t>Decisiones para validar un piloto</a:t>
            </a:r>
          </a:p>
          <a:p xmlns:a="http://schemas.openxmlformats.org/drawingml/2006/main">
            <a:pPr algn="l">
              <a:defRPr sz="2025" b="1" i="1">
                <a:solidFill>
                  <a:srgbClr val="5F7048"/>
                </a:solidFill>
                <a:latin typeface="Georgia"/>
                <a:ea typeface="Georgia"/>
                <a:cs typeface="Georgia"/>
              </a:defRPr>
            </a:pPr>
            <a:r>
              <a:rPr sz="2025" b="1" i="1">
                <a:solidFill>
                  <a:srgbClr val="5F7048"/>
                </a:solidFill>
                <a:latin typeface="Georgia"/>
                <a:ea typeface="Georgia"/>
                <a:cs typeface="Georgia"/>
              </a:rPr>
              <a:t>de cultivo modular en Tenjo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D07C7-7443-48DC-90AC-4DDB2013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4629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1D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F1D18"/>
                </a:solidFill>
                <a:latin typeface="Arial"/>
                <a:ea typeface="Arial"/>
                <a:cs typeface="Arial"/>
              </a:rPr>
              <a:t>Una interpretación ejecutiva del proyecto: qué existe, qué se está probando y qué debe resolverse antes de escalar.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FC961-D1E1-44CE-8837-4E3B2E9E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579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TENJO, CUNDINAMARCA · JULIO 2026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73612d0b44132"/>
          <a:srcRect xmlns:a="http://schemas.openxmlformats.org/drawingml/2006/main" l="18487" t="0" r="184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4550" y="228600"/>
            <a:ext cx="6267450" cy="6629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4394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BC71EA-463B-46D7-961B-13D9EC22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SETAS DE LA PEÑA · DOCUMENTO DE TRABAJO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21C45-0A15-4BDB-901F-8F4BA420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REV. JUL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AC077-1DEF-4D77-A191-B0EFABBD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60ED4-514C-4B40-9659-7410D3B1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28D553-884D-4D36-A088-DA05C45E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71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La asesoría tiene un trabajo concreto.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41D32-B76D-46A2-9C2A-8CB021A3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F6A5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F6A5F"/>
                </a:solidFill>
                <a:latin typeface="Arial"/>
                <a:ea typeface="Arial"/>
                <a:cs typeface="Arial"/>
              </a:rPr>
              <a:t>El proyecto no necesita aprobación general: necesita decisiones que reduzcan el riesgo del primer ciclo.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8AC06-AE52-4B22-9097-27BC5923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104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5F7048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5F704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E5E18-FB27-4E54-9663-D8F8EC66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0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7048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5F7048"/>
                </a:solidFill>
                <a:latin typeface="Menlo"/>
                <a:ea typeface="Menlo"/>
                <a:cs typeface="Menlo"/>
              </a:rPr>
              <a:t>INFRAESTRUCTURA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93DE3-1ABB-453D-A052-6F039240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3028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Separar flujos limpios y sucios sin sobredimensionar la obra.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7626B-ABDB-48CE-BD00-2F29FF18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57450"/>
            <a:ext cx="95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58340-0187-43DF-BB79-2173220C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104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A85834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A85834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1D7A79-CF96-4628-BAC0-B4B845D1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90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85834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A85834"/>
                </a:solidFill>
                <a:latin typeface="Menlo"/>
                <a:ea typeface="Menlo"/>
                <a:cs typeface="Menlo"/>
              </a:rPr>
              <a:t>PILOTO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AE100B-EC4F-4881-83DC-1642220F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90900"/>
            <a:ext cx="3028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Escoger la configuración mínima y los criterios de éxito.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BA5D6F-8634-415C-9A06-4FFDBC6E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57450"/>
            <a:ext cx="95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32F4E0-F426-471F-9846-6934519D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66950"/>
            <a:ext cx="104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627A80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627A80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083FE-5BB6-4945-84BC-79BA4517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90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7A80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27A80"/>
                </a:solidFill>
                <a:latin typeface="Menlo"/>
                <a:ea typeface="Menlo"/>
                <a:cs typeface="Menlo"/>
              </a:rPr>
              <a:t>NEGOCIO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83CA21-3B58-4A8D-B78B-F37184F0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90900"/>
            <a:ext cx="3028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Definir qué evidencia comercial debe existir antes de ampliar capacidad.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32B37B-535D-44D2-B061-6662F84B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896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1713DE-2B7F-4AC2-80AC-58CAF63C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721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La pregunta no es si la idea es interesante. Es qué debemos corregir antes de invertir más.</a:t>
            </a:r>
          </a:p>
        </p:txBody>
      </p:sp>
    </p:spTree>
    <p:extLst>
      <p:ext uri="{BB962C8B-B14F-4D97-AF65-F5344CB8AC3E}">
        <p14:creationId xmlns:p14="http://schemas.microsoft.com/office/powerpoint/2010/main" val="2821878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1A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72900A-349B-4490-A4D6-5486280B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6D8CE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D6D8CE"/>
                </a:solidFill>
                <a:latin typeface="Menlo"/>
                <a:ea typeface="Menlo"/>
                <a:cs typeface="Menlo"/>
              </a:rPr>
              <a:t>SETAS DE LA PEÑA · TESIS DEL PILOTO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56BDF-F219-4BCC-9011-E94F052D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D6D8CE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D6D8CE"/>
                </a:solidFill>
                <a:latin typeface="Menlo"/>
                <a:ea typeface="Menlo"/>
                <a:cs typeface="Menlo"/>
              </a:rPr>
              <a:t>REV. JUL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FEC38-F3A3-417F-A130-77F8C750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4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43F11-3EF4-4742-AB0D-E4758717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D6D8CE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D6D8CE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AD353E-5693-4CA2-BDD8-214B04A6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La tesis es pequeña: reutilizar, separar, medir y escalar.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364CE-051A-4990-9067-252C3CBD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7F8E69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7F8E69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8B652-C358-403F-BCF1-88B351A9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2305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0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B1E03-4EA7-4E23-84A8-02D50014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DF8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FFFDF8"/>
                </a:solidFill>
                <a:latin typeface="Menlo"/>
                <a:ea typeface="Menlo"/>
                <a:cs typeface="Menlo"/>
              </a:rPr>
              <a:t>REUTILIZAR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977730-6FC5-47AE-8BE0-32815C1E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2305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6D8CE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D6D8CE"/>
                </a:solidFill>
                <a:latin typeface="Georgia"/>
                <a:ea typeface="Georgia"/>
                <a:cs typeface="Georgia"/>
              </a:rPr>
              <a:t>Naves existentes antes que construcción nueva.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DC163-2C45-436B-9829-1475B63E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622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A85834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A85834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016D8-8E8D-49E4-BB79-1D28AE0F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76600"/>
            <a:ext cx="2305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0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C5E11-E06C-42C4-BBAE-C9B85780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6710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DF8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FFFDF8"/>
                </a:solidFill>
                <a:latin typeface="Menlo"/>
                <a:ea typeface="Menlo"/>
                <a:cs typeface="Menlo"/>
              </a:rPr>
              <a:t>SEPARAR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C5428-5078-4B3E-A916-43661AC7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43350"/>
            <a:ext cx="2305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6D8CE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D6D8CE"/>
                </a:solidFill>
                <a:latin typeface="Georgia"/>
                <a:ea typeface="Georgia"/>
                <a:cs typeface="Georgia"/>
              </a:rPr>
              <a:t>Incubación, fructificación y zonas sucias con límites claros.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555D5-412D-42F2-B893-7271030C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22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7F8E69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7F8E69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0E181E-C344-4A02-A115-4AEBD6E6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2305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0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B08537-2F2B-4CAE-A2E1-AC98B5EF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710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DF8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FFFDF8"/>
                </a:solidFill>
                <a:latin typeface="Menlo"/>
                <a:ea typeface="Menlo"/>
                <a:cs typeface="Menlo"/>
              </a:rPr>
              <a:t>MEDIR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30E58A-8B15-4C5E-9DC4-9C502862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2305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6D8CE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D6D8CE"/>
                </a:solidFill>
                <a:latin typeface="Georgia"/>
                <a:ea typeface="Georgia"/>
                <a:cs typeface="Georgia"/>
              </a:rPr>
              <a:t>Cada lote deja una historia comparable.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2CDEA-8353-4786-A0D5-FDD85650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622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A85834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A85834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593C34-A899-4B90-8517-A3417E65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76600"/>
            <a:ext cx="2305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0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C79BD2-9F95-4116-BC74-BEA89D67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6710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DF8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FFFDF8"/>
                </a:solidFill>
                <a:latin typeface="Menlo"/>
                <a:ea typeface="Menlo"/>
                <a:cs typeface="Menlo"/>
              </a:rPr>
              <a:t>ESCALAR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BF8B84-C0C3-4696-B418-7DD50B97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43350"/>
            <a:ext cx="2305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6D8CE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D6D8CE"/>
                </a:solidFill>
                <a:latin typeface="Georgia"/>
                <a:ea typeface="Georgia"/>
                <a:cs typeface="Georgia"/>
              </a:rPr>
              <a:t>Un módulo nuevo solo después de evidencia repetible.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5D98A-FEFA-4100-A7EE-6116D41C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1">
                <a:solidFill>
                  <a:srgbClr val="7F8E69"/>
                </a:solidFill>
                <a:latin typeface="Georgia"/>
                <a:ea typeface="Georgia"/>
                <a:cs typeface="Georgia"/>
              </a:defRPr>
            </a:pPr>
            <a:r>
              <a:rPr sz="1800" b="1" i="1">
                <a:solidFill>
                  <a:srgbClr val="7F8E69"/>
                </a:solidFill>
                <a:latin typeface="Georgia"/>
                <a:ea typeface="Georgia"/>
                <a:cs typeface="Georgia"/>
              </a:rPr>
              <a:t>El valor del proyecto no está en parecer grande; está en aprender sin perder trazabilidad.</a:t>
            </a:r>
          </a:p>
        </p:txBody>
      </p:sp>
    </p:spTree>
    <p:extLst>
      <p:ext uri="{BB962C8B-B14F-4D97-AF65-F5344CB8AC3E}">
        <p14:creationId xmlns:p14="http://schemas.microsoft.com/office/powerpoint/2010/main" val="11601485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F1AB95-1E1D-445A-9507-DB8CFF41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SETAS DE LA PEÑA · ESTADO ACTUAL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C9FE4-C398-4039-A679-94639145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REV. JUL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C1631-E786-47D6-A861-96200876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953FE-5AB1-4CEB-9C92-AFA0B702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02564C-9B23-45D3-8B24-25A3F257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715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Hoy existe suficiente para probar; todavía no para confiar.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F678C-2A27-4C68-9F0C-73593B2C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81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29E2E-C159-4C96-B7D3-DE3F76F5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7048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5F7048"/>
                </a:solidFill>
                <a:latin typeface="Menlo"/>
                <a:ea typeface="Menlo"/>
                <a:cs typeface="Menlo"/>
              </a:rPr>
              <a:t>EXISTE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99EBF-6BED-44AF-8DDF-966FA251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669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Naves, autoclave y dos cámaras de fructificación.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7C59C-FEE6-4803-9088-40365E14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710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4D138-FBD0-4594-8EAB-ED5CD67A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62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7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2B96B-DF8C-4CAA-8303-31FEE0A4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86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A7A42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9A7A42"/>
                </a:solidFill>
                <a:latin typeface="Menlo"/>
                <a:ea typeface="Menlo"/>
                <a:cs typeface="Menlo"/>
              </a:rPr>
              <a:t>EN PRUEBA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EC28C-E4E3-4943-998C-A8A58F21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480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Alternativas de incubación y registro digital.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DE39F-6E18-41CB-9B02-8FD0A578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57600"/>
            <a:ext cx="710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743A1-83FA-43CF-AD95-AD2781A7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43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8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BADFEF-5092-423D-A152-831ABB98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85834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A85834"/>
                </a:solidFill>
                <a:latin typeface="Menlo"/>
                <a:ea typeface="Menlo"/>
                <a:cs typeface="Menlo"/>
              </a:rPr>
              <a:t>NO COMISIONADO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E2073E-DA2F-492A-A4CB-6AE76370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290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Autoclave, Martha Terra Fungus y CloudLab 844.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05CDD0-739C-41F8-A6D8-27C15AC7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710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FBB26-BD4B-4B8E-9A28-609AA7F1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24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7A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643CDD-7B76-434B-8CF3-ABC9403F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7A80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27A80"/>
                </a:solidFill>
                <a:latin typeface="Menlo"/>
                <a:ea typeface="Menlo"/>
                <a:cs typeface="Menlo"/>
              </a:rPr>
              <a:t>POR DEFINIR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738211-3859-4DCC-89F1-02A4DE87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101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Flujo estéril, estándar térmico, comprador y economía unitaria.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85cb1d5dc480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0600" y="2190750"/>
            <a:ext cx="2933700" cy="2933700"/>
          </a:xfrm>
          <a:prstGeom xmlns:a="http://schemas.openxmlformats.org/drawingml/2006/main" prst="roundRect">
            <a:avLst>
              <a:gd name="adj" fmla="val 3896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B6C6B4-4F56-4C34-AF32-E62429AB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5780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TENJO · CONTEXTO REAL / DISEÑO AÚN EN VALIDACIÓN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8EE3AE-F00F-4A61-A4B7-263A61A6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10896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A1A7D0-583A-4972-BDE3-82E71072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38825"/>
            <a:ext cx="1055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F1D18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1F1D18"/>
                </a:solidFill>
                <a:latin typeface="Menlo"/>
                <a:ea typeface="Menlo"/>
                <a:cs typeface="Menlo"/>
              </a:rPr>
              <a:t>Regla de lectura: físico no significa comisionado; comisionado no significa validado.</a:t>
            </a:r>
          </a:p>
        </p:txBody>
      </p:sp>
    </p:spTree>
    <p:extLst>
      <p:ext uri="{BB962C8B-B14F-4D97-AF65-F5344CB8AC3E}">
        <p14:creationId xmlns:p14="http://schemas.microsoft.com/office/powerpoint/2010/main" val="1795252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20494-9451-431B-BBB4-DC85301D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SETAS DE LA PEÑA · HIPÓTESIS BIOLÓGICA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7F79E-DE49-4D56-AE61-B555425A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REV. JUL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7752F-3620-4CA8-9E31-A31962AA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DA19F-100A-4011-B208-26D4CC65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4deb2531c42f0"/>
          <a:stretch xmlns:a="http://schemas.openxmlformats.org/drawingml/2006/main"/>
        </p:blipFill>
        <p:spPr>
          <a:xfrm xmlns:a="http://schemas.openxmlformats.org/drawingml/2006/main">
            <a:off x="883175" y="838200"/>
            <a:ext cx="4177249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CF972-8F77-45AC-A3AE-01425D9A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90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85834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A85834"/>
                </a:solidFill>
                <a:latin typeface="Menlo"/>
                <a:ea typeface="Menlo"/>
                <a:cs typeface="Menlo"/>
              </a:rPr>
              <a:t>HIPÓTESIS ACTUAL DE ARRANQUE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23AF0-BD7F-4061-97D3-AB622D7C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52550"/>
            <a:ext cx="5467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Shiitake enseña mucho, pero exige demasiado.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CD229-E4FC-4CAE-B936-AF80C5B7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0980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1">
                <a:solidFill>
                  <a:srgbClr val="6F6A5F"/>
                </a:solidFill>
                <a:latin typeface="Georgia"/>
                <a:ea typeface="Georgia"/>
                <a:cs typeface="Georgia"/>
              </a:defRPr>
            </a:pPr>
            <a:r>
              <a:rPr sz="1500" b="1" i="1">
                <a:solidFill>
                  <a:srgbClr val="6F6A5F"/>
                </a:solidFill>
                <a:latin typeface="Georgia"/>
                <a:ea typeface="Georgia"/>
                <a:cs typeface="Georgia"/>
              </a:rPr>
              <a:t>Puede encarecer el primer aprendizaje.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0E127-5276-44FE-B2BF-6CA8BB0D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86050"/>
            <a:ext cx="546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7BE8E-EE6B-418D-8AD5-B82764FB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146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7048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5F7048"/>
                </a:solidFill>
                <a:latin typeface="Menlo"/>
                <a:ea typeface="Menlo"/>
                <a:cs typeface="Menlo"/>
              </a:rPr>
              <a:t>A FAVOR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A901F-80FD-4675-88A2-534D9AF4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38500"/>
            <a:ext cx="23431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1D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F1D18"/>
                </a:solidFill>
                <a:latin typeface="Arial"/>
                <a:ea typeface="Arial"/>
                <a:cs typeface="Arial"/>
              </a:rPr>
              <a:t>• Producto reconocido</a:t>
            </a:r>
          </a:p>
          <a:p xmlns:a="http://schemas.openxmlformats.org/drawingml/2006/main">
            <a:pPr algn="l">
              <a:defRPr sz="1425" b="0" i="0">
                <a:solidFill>
                  <a:srgbClr val="1F1D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F1D18"/>
                </a:solidFill>
                <a:latin typeface="Arial"/>
                <a:ea typeface="Arial"/>
                <a:cs typeface="Arial"/>
              </a:rPr>
              <a:t>• Sustrato de madera disponible</a:t>
            </a:r>
          </a:p>
          <a:p xmlns:a="http://schemas.openxmlformats.org/drawingml/2006/main">
            <a:pPr algn="l">
              <a:defRPr sz="1425" b="0" i="0">
                <a:solidFill>
                  <a:srgbClr val="1F1D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F1D18"/>
                </a:solidFill>
                <a:latin typeface="Arial"/>
                <a:ea typeface="Arial"/>
                <a:cs typeface="Arial"/>
              </a:rPr>
              <a:t>• Obliga a dominar el proceso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3FEFD-7DA6-45EB-8146-0EFB69CF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146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85834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A85834"/>
                </a:solidFill>
                <a:latin typeface="Menlo"/>
                <a:ea typeface="Menlo"/>
                <a:cs typeface="Menlo"/>
              </a:rPr>
              <a:t>EN CONTRA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B535FA-7114-4671-90B9-ABFEA1A0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38500"/>
            <a:ext cx="23431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1D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F1D18"/>
                </a:solidFill>
                <a:latin typeface="Arial"/>
                <a:ea typeface="Arial"/>
                <a:cs typeface="Arial"/>
              </a:rPr>
              <a:t>• Ciclo lento</a:t>
            </a:r>
          </a:p>
          <a:p xmlns:a="http://schemas.openxmlformats.org/drawingml/2006/main">
            <a:pPr algn="l">
              <a:defRPr sz="1425" b="0" i="0">
                <a:solidFill>
                  <a:srgbClr val="1F1D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F1D18"/>
                </a:solidFill>
                <a:latin typeface="Arial"/>
                <a:ea typeface="Arial"/>
                <a:cs typeface="Arial"/>
              </a:rPr>
              <a:t>• Control ambiental exigente</a:t>
            </a:r>
          </a:p>
          <a:p xmlns:a="http://schemas.openxmlformats.org/drawingml/2006/main">
            <a:pPr algn="l">
              <a:defRPr sz="1425" b="0" i="0">
                <a:solidFill>
                  <a:srgbClr val="1F1D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F1D18"/>
                </a:solidFill>
                <a:latin typeface="Arial"/>
                <a:ea typeface="Arial"/>
                <a:cs typeface="Arial"/>
              </a:rPr>
              <a:t>• Menor tolerancia al error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A3B21A-7DA7-467F-975F-11F7E18A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05350"/>
            <a:ext cx="546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76479-BCCB-41EE-8FF6-88E758AE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4972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¿Conviene validar el sistema con la especie más informativa o con la más tolerante?</a:t>
            </a:r>
          </a:p>
        </p:txBody>
      </p:sp>
    </p:spTree>
    <p:extLst>
      <p:ext uri="{BB962C8B-B14F-4D97-AF65-F5344CB8AC3E}">
        <p14:creationId xmlns:p14="http://schemas.microsoft.com/office/powerpoint/2010/main" val="13184229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AD1D3C-0BDC-43E0-8528-4B7E9DA8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SETAS DE LA PEÑA · FLUJO PRODUCTIVO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9C0A8-0B99-42AA-B2FB-6040EC49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REV. JUL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AF4A1-4A25-4ABD-A297-E95097B6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21485-5AB6-43F1-B5AF-93124393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9EED6A-7B43-458B-A324-886EC9FE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715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El riesgo atraviesa todo el ciclo; el control no puede vivir al final.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CE8EC-1FE2-498B-8F9A-90DC7254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9900"/>
            <a:ext cx="571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4AE77A-D0C3-421B-A953-BA4ECB16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09900"/>
            <a:ext cx="571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1A37F-FC2D-424B-B9CA-1E0854BF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9900"/>
            <a:ext cx="571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E3C7C-8E2E-430F-9665-512EDEBC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3241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5F704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046EF-056C-440D-B99A-44A88563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5F7048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5F704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856366-99EC-4073-8BAE-A52FB61A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9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F7048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5F7048"/>
                </a:solidFill>
                <a:latin typeface="Menlo"/>
                <a:ea typeface="Menlo"/>
                <a:cs typeface="Menlo"/>
              </a:rPr>
              <a:t>ORIGEN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5C58E-72E6-465E-B272-836AE6CD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981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Cultura y spawn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4DC40-4327-4664-95CE-0B899D08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00300"/>
            <a:ext cx="23241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9A7A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C49970-44F4-43E7-BCA0-5B372B54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52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9A7A42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9A7A42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94DFE2-C75A-44D3-89BB-4F76AEAA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9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A7A42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9A7A42"/>
                </a:solidFill>
                <a:latin typeface="Menlo"/>
                <a:ea typeface="Menlo"/>
                <a:cs typeface="Menlo"/>
              </a:rPr>
              <a:t>PREPARACIÓN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D4B022-3458-4E88-9FC4-09A06C34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48000"/>
            <a:ext cx="1981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Sustrato, tratamiento térmico e inoculación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947D5B-0E27-4A6C-A215-A322E64F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23241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A858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7856CF-B081-41FF-97B9-BA76465C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52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A85834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A85834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C730FA-C8F4-4482-B99B-10D2D0E6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9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85834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A85834"/>
                </a:solidFill>
                <a:latin typeface="Menlo"/>
                <a:ea typeface="Menlo"/>
                <a:cs typeface="Menlo"/>
              </a:rPr>
              <a:t>CRECIMIENTO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5548B3-68C9-4C96-AFC2-1A1FB21B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48000"/>
            <a:ext cx="1981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Incubación y fructificación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613FC6-B057-48E8-B662-8B501DE2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00300"/>
            <a:ext cx="23241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627A8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08F230-61A9-4EBE-8846-92995C25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52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627A80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627A80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A056FE-9397-4AF4-9E8A-8AFFC88D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908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27A80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27A80"/>
                </a:solidFill>
                <a:latin typeface="Menlo"/>
                <a:ea typeface="Menlo"/>
                <a:cs typeface="Menlo"/>
              </a:rPr>
              <a:t>CIRCULACIÓN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7214A1-5E9D-4DED-AFCF-27EE717D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48000"/>
            <a:ext cx="1981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Cosecha, venta o descarte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BAF747-CDFE-4D9F-80D7-248029B7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10896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9443B8-BE6D-45C8-A3DD-1146AB74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DF8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FFFDF8"/>
                </a:solidFill>
                <a:latin typeface="Menlo"/>
                <a:ea typeface="Menlo"/>
                <a:cs typeface="Menlo"/>
              </a:rPr>
              <a:t>CONTROL DE CALIDAD  +  TRAZABILIDAD  +  CONTAMINACIÓN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80576E-CAC1-4569-ADFC-2A97E7C3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D6D8C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6D8CE"/>
                </a:solidFill>
                <a:latin typeface="Arial"/>
                <a:ea typeface="Arial"/>
                <a:cs typeface="Arial"/>
              </a:rPr>
              <a:t>Tres capas transversales: acompañan cada decisión desde la inoculación hasta el destino final.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C59DC3-8F88-40DD-8ED5-6D52C1A0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1">
                <a:solidFill>
                  <a:srgbClr val="5F7048"/>
                </a:solidFill>
                <a:latin typeface="Georgia"/>
                <a:ea typeface="Georgia"/>
                <a:cs typeface="Georgia"/>
              </a:defRPr>
            </a:pPr>
            <a:r>
              <a:rPr sz="1800" b="1" i="1">
                <a:solidFill>
                  <a:srgbClr val="5F7048"/>
                </a:solidFill>
                <a:latin typeface="Georgia"/>
                <a:ea typeface="Georgia"/>
                <a:cs typeface="Georgia"/>
              </a:rPr>
              <a:t>Un lote no es solo producto: es una secuencia de evidencia.</a:t>
            </a:r>
          </a:p>
        </p:txBody>
      </p:sp>
    </p:spTree>
    <p:extLst>
      <p:ext uri="{BB962C8B-B14F-4D97-AF65-F5344CB8AC3E}">
        <p14:creationId xmlns:p14="http://schemas.microsoft.com/office/powerpoint/2010/main" val="7121956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BD8678-76AB-4F8E-AB73-E5B169B9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SETAS DE LA PEÑA · RECONVERSIÓN DE LA FINCA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55507-DECF-424D-AAFB-E36057AF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REV. JUL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47299-D8BF-4332-99AD-ADD02A2A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B6BA9-CB0D-45D6-91AF-35784014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0E912E-DDA0-435B-BC02-14DE4B1F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715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La reconversión funciona solo si los flujos sucio y limpio no se cruzan.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61199-FCB1-4E46-8586-047BEB86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3370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236BD-8226-49B8-B212-FDEC81A5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3370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904DA-2DF3-4E60-8900-B96F84C4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3370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91E26-BC76-4BF5-A930-D9DBA18C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3370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87C206-BD92-4BC2-A53E-EF431A66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1809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A858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D9FB1-5329-472A-BF07-92079C8D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47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8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BECE0-9F22-4139-8915-6D84F9C1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384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43E54-F5B7-450F-90E4-80BE225A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85834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A85834"/>
                </a:solidFill>
                <a:latin typeface="Menlo"/>
                <a:ea typeface="Menlo"/>
                <a:cs typeface="Menlo"/>
              </a:rPr>
              <a:t>SUSTRATO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8A4FD-2D5C-49D1-857D-81FA458C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Mezcla y embolsado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60C16-BD25-44FC-AB0F-840E1E79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86000"/>
            <a:ext cx="1809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9A7A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C1270-39F1-40DD-BC1F-FF1DECB0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47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7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F54F6B-0085-4089-A67F-D527C16C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384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70E3C-774F-45D5-909D-DA21D5A2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146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9A7A42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9A7A42"/>
                </a:solidFill>
                <a:latin typeface="Menlo"/>
                <a:ea typeface="Menlo"/>
                <a:cs typeface="Menlo"/>
              </a:rPr>
              <a:t>TRANSICIÓN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57B3DE-A735-40A2-81AA-E4F3728E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3850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Cambio e higiene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A0AD39-DFF5-4553-9C85-32C35E7B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86000"/>
            <a:ext cx="1809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5F704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78CF26-F79B-4A74-9E2A-9B8E4F75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447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2F9C7A-2948-46E4-98AB-B603C0E3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4384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425757-0227-4198-BFF9-189AAC7A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F7048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5F7048"/>
                </a:solidFill>
                <a:latin typeface="Menlo"/>
                <a:ea typeface="Menlo"/>
                <a:cs typeface="Menlo"/>
              </a:rPr>
              <a:t>INOCULACIÓN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1F01E3-40BC-47E2-B17E-B2B73A7E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3850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Trabajo limpio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EF8518-B933-4C8F-9D38-F15DAA53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86000"/>
            <a:ext cx="1809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627A8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0DE2BC-20B1-480C-A5A6-0EF741F3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47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7A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06EAB7-ABCB-4D97-9FB2-6CFB5B6D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384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54FCE3-58A5-425D-8427-5C700B9E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146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27A80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27A80"/>
                </a:solidFill>
                <a:latin typeface="Menlo"/>
                <a:ea typeface="Menlo"/>
                <a:cs typeface="Menlo"/>
              </a:rPr>
              <a:t>INCUBACIÓN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488949-68DC-4EB6-8CEA-CDC95393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3850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Calor estable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D5607B-CBE4-422B-B339-EDAAB5EA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86000"/>
            <a:ext cx="1809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7F8E6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BD12CD-5942-437F-A756-30E89037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447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8E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6E962A-BC86-4211-9EF3-BE8CD0EA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4384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CF8D54-61EB-4423-A2FE-7718B4BD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146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7F8E69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7F8E69"/>
                </a:solidFill>
                <a:latin typeface="Menlo"/>
                <a:ea typeface="Menlo"/>
                <a:cs typeface="Menlo"/>
              </a:rPr>
              <a:t>FRUCTIFICACIÓN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88D4AF-677A-44EB-81E2-D22AB184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3850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Clima y cosecha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3058B8-0086-41D1-A632-CE44A05E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10896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A5A30E-3478-4135-A1FC-5ADCD04C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C3E2E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8C3E2E"/>
                </a:solidFill>
                <a:latin typeface="Menlo"/>
                <a:ea typeface="Menlo"/>
                <a:cs typeface="Menlo"/>
              </a:rPr>
              <a:t>RESIDUOS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0C8375-DCC1-4822-92D7-90A4665F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Salida exterior directa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5D5C14-A7A0-4668-8025-3706CF99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3865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A31361-D55C-428D-AC37-A79FB8A1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38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7A80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27A80"/>
                </a:solidFill>
                <a:latin typeface="Menlo"/>
                <a:ea typeface="Menlo"/>
                <a:cs typeface="Menlo"/>
              </a:rPr>
              <a:t>RESTRICCIÓN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615233-967E-4C31-8CF5-A80FBF1E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62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El pasillo entre naves no se usa para trabajo aséptico.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01F5B3-4F8B-4F6D-8DDF-455A36A8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3865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298297-A12B-42A4-B0B1-9A817A7B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38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85834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A85834"/>
                </a:solidFill>
                <a:latin typeface="Menlo"/>
                <a:ea typeface="Menlo"/>
                <a:cs typeface="Menlo"/>
              </a:rPr>
              <a:t>ESTADO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06A426-619A-416D-8D96-F32891A3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62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Esquema conceptual por verificar en sitio.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A78045-54C9-4984-BAA4-513CC660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13144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A8583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F77F4C-FDD9-44CF-AB21-87E004B8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762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8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BC36D7-F5C0-4478-919A-6303F951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583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85834"/>
                </a:solidFill>
                <a:latin typeface="Menlo"/>
                <a:ea typeface="Menlo"/>
                <a:cs typeface="Menlo"/>
              </a:rPr>
              <a:t>DECISIÓN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A6D826-5885-40ED-B79A-F8AB964E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197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¿La separación propuesta reduce realmente el riesgo de contaminación cruzada?</a:t>
            </a:r>
          </a:p>
        </p:txBody>
      </p:sp>
    </p:spTree>
    <p:extLst>
      <p:ext uri="{BB962C8B-B14F-4D97-AF65-F5344CB8AC3E}">
        <p14:creationId xmlns:p14="http://schemas.microsoft.com/office/powerpoint/2010/main" val="12162105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CEF967-9897-4262-8CE8-F17E5832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SETAS DE LA PEÑA · ARQUITECTURA DEL PILOTO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E6850-D01D-46FD-8E9F-FDDF9574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REV. JUL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5DA40-1D32-4E31-8960-ACFB1436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DA9BD-D671-4735-A40B-2E523BD5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933209-2CDA-40AA-8337-E52C778F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El piloto debe comparar métodos, no equipos.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21ba2a98d4e5e"/>
          <a:stretch xmlns:a="http://schemas.openxmlformats.org/drawingml/2006/main"/>
        </p:blipFill>
        <p:spPr>
          <a:xfrm xmlns:a="http://schemas.openxmlformats.org/drawingml/2006/main">
            <a:off x="885825" y="1866900"/>
            <a:ext cx="4743450" cy="3162300"/>
          </a:xfrm>
          <a:prstGeom xmlns:a="http://schemas.openxmlformats.org/drawingml/2006/main" prst="roundRect">
            <a:avLst>
              <a:gd name="adj" fmla="val 361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167A8-466C-4579-BD1C-CC8612E4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85834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A85834"/>
                </a:solidFill>
                <a:latin typeface="Menlo"/>
                <a:ea typeface="Menlo"/>
                <a:cs typeface="Menlo"/>
              </a:rPr>
              <a:t>INCUBACIÓN · COMPARACIÓN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B4F4C-2F73-4396-8DC9-596EBA28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521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Baño María vs. calefacción radiante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9BC46-2380-4467-B43C-A65EAD1F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85950"/>
            <a:ext cx="5276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5F704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4FE39-1FD0-48F4-A5FD-A1904C44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764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7048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5F7048"/>
                </a:solidFill>
                <a:latin typeface="Menlo"/>
                <a:ea typeface="Menlo"/>
                <a:cs typeface="Menlo"/>
              </a:rPr>
              <a:t>MARTHA TERRA FUNGUS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497A5-EE3D-4F47-BBD8-6A0D217C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3840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Rol propuesto: prototipo, cuarentena e investigación.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C36EE-0337-410A-A0F6-DD767754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956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A858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F7625-530A-4A4B-8CE3-8BF27E1B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00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8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C4E82-8BAF-4339-8ED7-7F12E0C8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2417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583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85834"/>
                </a:solidFill>
                <a:latin typeface="Menlo"/>
                <a:ea typeface="Menlo"/>
                <a:cs typeface="Menlo"/>
              </a:rPr>
              <a:t>NO COMISIONADA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8F9297-37ED-43AE-8CD1-41D7210C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62350"/>
            <a:ext cx="5276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627A8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91FE4F-7718-4023-A329-82CEC4BC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52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7A80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27A80"/>
                </a:solidFill>
                <a:latin typeface="Menlo"/>
                <a:ea typeface="Menlo"/>
                <a:cs typeface="Menlo"/>
              </a:rPr>
              <a:t>CLOUDLAB 844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B57E7-A167-474F-87E8-AE48F80B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1480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Rol propuesto: producción inicial con lo ya probado.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CE1DC9-0D4E-4C7D-BB6A-9029951D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720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A858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36478D-3E7B-475F-B31B-12FDBE8F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676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8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2F031C-36C0-48C3-8C0E-6C9B8A52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0057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583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85834"/>
                </a:solidFill>
                <a:latin typeface="Menlo"/>
                <a:ea typeface="Menlo"/>
                <a:cs typeface="Menlo"/>
              </a:rPr>
              <a:t>NO COMISIONADA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69F8B9-331C-415D-91B4-6DA5CFB6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38750"/>
            <a:ext cx="5276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08C369-C064-480A-9DAE-5CB6F98B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721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DF8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FFFDF8"/>
                </a:solidFill>
                <a:latin typeface="Menlo"/>
                <a:ea typeface="Menlo"/>
                <a:cs typeface="Menlo"/>
              </a:rPr>
              <a:t>Éxito = estabilidad + consumo medido + ausencia de puntos calientes + repetibilidad</a:t>
            </a:r>
          </a:p>
        </p:txBody>
      </p:sp>
    </p:spTree>
    <p:extLst>
      <p:ext uri="{BB962C8B-B14F-4D97-AF65-F5344CB8AC3E}">
        <p14:creationId xmlns:p14="http://schemas.microsoft.com/office/powerpoint/2010/main" val="5102323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B348AD-24CB-43C6-9FE1-B009273A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SETAS DE LA PEÑA · CONDICIÓN TÉRMICA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C5CC2-FF9A-45B1-8065-C149C4D2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REV. JUL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4FF59-0CC5-4BA1-A80E-6F82FF15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F22E3-766B-436A-8960-311F3637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233A85-CF9E-4990-903F-41C7C486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715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A 2.600 m, el frío ayuda al final y complica el principio.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a0b44902e4f76"/>
          <a:srcRect xmlns:a="http://schemas.openxmlformats.org/drawingml/2006/main" l="21154" t="0" r="211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4300" y="1809750"/>
            <a:ext cx="3810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CF823-32B0-4BA3-AD6B-BC80B94A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A85834"/>
                </a:solidFill>
                <a:latin typeface="Georgia"/>
                <a:ea typeface="Georgia"/>
                <a:cs typeface="Georgia"/>
              </a:defRPr>
            </a:pPr>
            <a:r>
              <a:rPr sz="4950" b="1" i="0">
                <a:solidFill>
                  <a:srgbClr val="A85834"/>
                </a:solidFill>
                <a:latin typeface="Georgia"/>
                <a:ea typeface="Georgia"/>
                <a:cs typeface="Georgia"/>
              </a:rPr>
              <a:t>≈13 °C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4CC044-C0D9-4BD2-A89E-8C82FA83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85834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A85834"/>
                </a:solidFill>
                <a:latin typeface="Menlo"/>
                <a:ea typeface="Menlo"/>
                <a:cs typeface="Menlo"/>
              </a:rPr>
              <a:t>DIFERENCIA A COMPENSAR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5DC1F-8BA0-4A80-8678-F1D46753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1556B7-E3E6-4056-A4C9-3102342D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7048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5F7048"/>
                </a:solidFill>
                <a:latin typeface="Menlo"/>
                <a:ea typeface="Menlo"/>
                <a:cs typeface="Menlo"/>
              </a:rPr>
              <a:t>FRUCTIFICACIÓN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E7913-6C46-492A-A5C5-0D755DD1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2781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El clima fresco puede reducir la refrigeración necesaria.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DDB23-6E7D-4C2D-9EDE-F55A1365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90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7A80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27A80"/>
                </a:solidFill>
                <a:latin typeface="Menlo"/>
                <a:ea typeface="Menlo"/>
                <a:cs typeface="Menlo"/>
              </a:rPr>
              <a:t>INCUBACIÓN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608A8-B734-401C-AAE9-E31799D1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14800"/>
            <a:ext cx="2781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El sistema debe producir calor estable y responder a fallas.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A005D7-351F-47F5-B215-AB805759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657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F1F499-52D3-4D28-BD75-004C04CE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F1D18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1F1D18"/>
                </a:solidFill>
                <a:latin typeface="Menlo"/>
                <a:ea typeface="Menlo"/>
                <a:cs typeface="Menlo"/>
              </a:rPr>
              <a:t>Estimación del documento base: modelo, no medición de campo. Los cálculos de 1.000 W y 90 W/caja corresponden a escalas distintas.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59266-274C-4CE7-9591-A698F342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734050"/>
            <a:ext cx="13144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A858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5F6332-AE79-4C40-B382-274EC6FA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838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8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AB2231-A921-49E5-BF2B-32104FDB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576262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5834"/>
                </a:solidFill>
                <a:latin typeface="Menlo"/>
                <a:ea typeface="Menlo"/>
                <a:cs typeface="Menlo"/>
              </a:defRPr>
            </a:pPr>
            <a:r>
              <a:rPr sz="825" b="1" i="0">
                <a:solidFill>
                  <a:srgbClr val="A85834"/>
                </a:solidFill>
                <a:latin typeface="Menlo"/>
                <a:ea typeface="Menlo"/>
                <a:cs typeface="Menlo"/>
              </a:rPr>
              <a:t>DECISIÓN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4DBC9A-8F95-4F2C-9436-2EA56408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69595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¿Qué medir antes de escoger el estándar?</a:t>
            </a:r>
          </a:p>
        </p:txBody>
      </p:sp>
    </p:spTree>
    <p:extLst>
      <p:ext uri="{BB962C8B-B14F-4D97-AF65-F5344CB8AC3E}">
        <p14:creationId xmlns:p14="http://schemas.microsoft.com/office/powerpoint/2010/main" val="13045340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EDD2B5-403F-481E-B706-D3CDD98E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SETAS DE LA PEÑA · BIOSEGURIDAD Y APRENDIZAJE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7AE16-4E77-4166-83A3-BF8A0216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REV. JUL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6124B-0106-48B1-B652-759903FD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0A4C2-6D31-4A62-BFFC-23084292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A0028A-9491-49DC-98E6-3092D61C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715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Una contaminación debe producir aprendizaje, no solo descarte.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C1197-A32A-496B-A56A-4C042A9B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7655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9DBF5-9CC3-4909-BF11-38E81017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7655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56B8A2-3117-48C3-A1B6-63E3DE96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7655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11EA3-25C4-44FB-83F5-3D610441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7655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3C7EA-7ECE-4561-999F-40184E31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7655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25C01-1D6B-4F87-9B85-128DD930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C7BD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F3C41F-F6C6-4C3F-A196-C1ED2734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A8583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A85834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19166-0265-4A2E-B4BE-A8EEEFD3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23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DETECTAR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852F77-1FA4-41E7-B626-CEF8DECA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908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C7BD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F8D5D8-C527-4063-81BC-4BF04A40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432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A8583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A85834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4BEF8E-3BCF-4131-AE90-CCFEB000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623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AISLAR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CC03A0-65B8-4592-9DF6-24D8DA8B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908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C7BDA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9282F7-5C51-4AB2-BA90-AFF2B57C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432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5F7048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5F7048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84C17F-FD8B-40A4-9E5A-745FFEFD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623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REGISTRAR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9EBDC9-E492-48CB-A25C-DEE58CC9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908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C7BDA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62A67A-D449-4E97-9961-0E0018F5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432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5F7048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5F7048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314C31-B595-415C-AB7C-C2884CB5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623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INVESTIGAR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7FB714-4CCD-45D2-8ABD-8A5C9596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908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C7BDA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ADE7B6-341D-426C-92AA-B5B16EB5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432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5F7048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5F7048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336D20-C901-404A-824D-4A030820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623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PROBAR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0A5099-2F38-4E09-9F24-9E551425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908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048"/>
          </a:solidFill>
          <a:ln xmlns:a="http://schemas.openxmlformats.org/drawingml/2006/main" w="9525">
            <a:solidFill>
              <a:srgbClr val="5F70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C82187-02C3-472A-B4E6-1DF0BA89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432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7EBF90-A341-4A22-953A-4D830FF8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623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F7048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5F7048"/>
                </a:solidFill>
                <a:latin typeface="Menlo"/>
                <a:ea typeface="Menlo"/>
                <a:cs typeface="Menlo"/>
              </a:rPr>
              <a:t>ACTUALIZAR SOP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1B8739-B135-4234-A73E-E5786127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10896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EA5CF3-69FA-41FB-BD82-0076B2A9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Observar antes de intervenir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241773-D001-4749-87ED-99169D23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6D8C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6D8CE"/>
                </a:solidFill>
                <a:latin typeface="Arial"/>
                <a:ea typeface="Arial"/>
                <a:cs typeface="Arial"/>
              </a:rPr>
              <a:t>Caracterizar la anomalía, documentarla y cambiar el mínimo número de variables para conservar una lectura causal.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A892BC-0ADB-4922-BBA5-95B4B276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1">
                <a:solidFill>
                  <a:srgbClr val="A85834"/>
                </a:solidFill>
                <a:latin typeface="Georgia"/>
                <a:ea typeface="Georgia"/>
                <a:cs typeface="Georgia"/>
              </a:defRPr>
            </a:pPr>
            <a:r>
              <a:rPr sz="1350" b="1" i="1">
                <a:solidFill>
                  <a:srgbClr val="A85834"/>
                </a:solidFill>
                <a:latin typeface="Georgia"/>
                <a:ea typeface="Georgia"/>
                <a:cs typeface="Georgia"/>
              </a:rPr>
              <a:t>Una prueba validada no cambia el procedimiento automáticamente: la decisión de actualizar el SOP es un paso propio.</a:t>
            </a:r>
          </a:p>
        </p:txBody>
      </p:sp>
    </p:spTree>
    <p:extLst>
      <p:ext uri="{BB962C8B-B14F-4D97-AF65-F5344CB8AC3E}">
        <p14:creationId xmlns:p14="http://schemas.microsoft.com/office/powerpoint/2010/main" val="2201095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FEBFCE-3748-439B-ACE7-793BF98C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SETAS DE LA PEÑA · OPERACIÓN DIARIA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FE35B-6D94-4812-9592-CD3D7DD3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REV. JUL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56DE6-3AE0-4A56-A4E5-676ADD93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9C6DB-B887-4990-9C53-15F56940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C15F1A-E2D8-44A5-B86B-1EA2F266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715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La operación remota solo funciona si alguien observa y registra en sitio.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6FF3F-5829-431A-BF6B-27815E27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0A258-514D-470A-9642-4DA2DB06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F8E69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7F8E69"/>
                </a:solidFill>
                <a:latin typeface="Menlo"/>
                <a:ea typeface="Menlo"/>
                <a:cs typeface="Menlo"/>
              </a:rPr>
              <a:t>OPERADOR REMOTO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D5F67-E44F-4840-AEE3-65926B13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Planea · revisa datos · documenta decisiones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EE21E-44BC-4254-87F9-5B65B5C0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76450"/>
            <a:ext cx="4953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A858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2D48E-81FB-43A7-9DFF-B08005B7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66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85834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A85834"/>
                </a:solidFill>
                <a:latin typeface="Menlo"/>
                <a:ea typeface="Menlo"/>
                <a:cs typeface="Menlo"/>
              </a:rPr>
              <a:t>CUIDADOR EN SITIO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893B6-F30D-46D7-9A7D-6FDF730A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47950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Ejecuta · observa · registra · comunica anomalías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9ED83-03A9-48C6-8705-124E2133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UNA JORNADA OPERATIVA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6DE5A-A549-4477-B68E-5FEB6B81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5E02EC-F986-40A6-83D0-9371045A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38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DDE1A-7F93-441D-8775-A732B12B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00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FA120C-7BDA-4C91-BEC7-6B209668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762500"/>
            <a:ext cx="144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F1D18"/>
                </a:solidFill>
                <a:latin typeface="Menlo"/>
                <a:ea typeface="Menlo"/>
                <a:cs typeface="Menlo"/>
              </a:defRPr>
            </a:pPr>
            <a:r>
              <a:rPr sz="1125" b="1" i="0">
                <a:solidFill>
                  <a:srgbClr val="1F1D18"/>
                </a:solidFill>
                <a:latin typeface="Menlo"/>
                <a:ea typeface="Menlo"/>
                <a:cs typeface="Menlo"/>
              </a:rPr>
              <a:t>SANIDAD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CE33C-BBC9-48B3-B368-DCF79BEA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438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8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3996A8-9CA4-4C12-BB43-0B0F481B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100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860663-E7B6-4816-83A1-C4FF421C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144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F1D18"/>
                </a:solidFill>
                <a:latin typeface="Menlo"/>
                <a:ea typeface="Menlo"/>
                <a:cs typeface="Menlo"/>
              </a:defRPr>
            </a:pPr>
            <a:r>
              <a:rPr sz="1125" b="1" i="0">
                <a:solidFill>
                  <a:srgbClr val="1F1D18"/>
                </a:solidFill>
                <a:latin typeface="Menlo"/>
                <a:ea typeface="Menlo"/>
                <a:cs typeface="Menlo"/>
              </a:rPr>
              <a:t>AMBIENTE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900538-1F07-4257-962F-0C54CAAB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438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D077A-0645-4142-8E10-C880B557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100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23AF3C-3DEF-468D-92A3-8742F4A1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62500"/>
            <a:ext cx="144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F1D18"/>
                </a:solidFill>
                <a:latin typeface="Menlo"/>
                <a:ea typeface="Menlo"/>
                <a:cs typeface="Menlo"/>
              </a:defRPr>
            </a:pPr>
            <a:r>
              <a:rPr sz="1125" b="1" i="0">
                <a:solidFill>
                  <a:srgbClr val="1F1D18"/>
                </a:solidFill>
                <a:latin typeface="Menlo"/>
                <a:ea typeface="Menlo"/>
                <a:cs typeface="Menlo"/>
              </a:rPr>
              <a:t>BIOLOGÍA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A96C2B-B0B5-4238-AEAD-B5859A2D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438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8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2EB342-009F-4335-971A-8C6AD5B1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100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7F0318-595F-4D4B-938B-612BE181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144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F1D18"/>
                </a:solidFill>
                <a:latin typeface="Menlo"/>
                <a:ea typeface="Menlo"/>
                <a:cs typeface="Menlo"/>
              </a:defRPr>
            </a:pPr>
            <a:r>
              <a:rPr sz="1125" b="1" i="0">
                <a:solidFill>
                  <a:srgbClr val="1F1D18"/>
                </a:solidFill>
                <a:latin typeface="Menlo"/>
                <a:ea typeface="Menlo"/>
                <a:cs typeface="Menlo"/>
              </a:rPr>
              <a:t>REGISTRO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601B73-FC15-4036-9F7A-59F0CB3A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438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2D7569-34FA-4955-A30D-7ECD3F43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100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B54166-1834-4C7B-9772-9A4CBA33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62500"/>
            <a:ext cx="144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F1D18"/>
                </a:solidFill>
                <a:latin typeface="Menlo"/>
                <a:ea typeface="Menlo"/>
                <a:cs typeface="Menlo"/>
              </a:defRPr>
            </a:pPr>
            <a:r>
              <a:rPr sz="1125" b="1" i="0">
                <a:solidFill>
                  <a:srgbClr val="1F1D18"/>
                </a:solidFill>
                <a:latin typeface="Menlo"/>
                <a:ea typeface="Menlo"/>
                <a:cs typeface="Menlo"/>
              </a:rPr>
              <a:t>AJUSTE MÍNIMO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F5E91C-F3E2-4E83-9417-D73C26F6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4438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8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9350E0-3398-4EAF-B46F-99582344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2100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088E9E-8F71-40A8-8F6F-9DC43E6F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762500"/>
            <a:ext cx="144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F1D18"/>
                </a:solidFill>
                <a:latin typeface="Menlo"/>
                <a:ea typeface="Menlo"/>
                <a:cs typeface="Menlo"/>
              </a:defRPr>
            </a:pPr>
            <a:r>
              <a:rPr sz="1125" b="1" i="0">
                <a:solidFill>
                  <a:srgbClr val="1F1D18"/>
                </a:solidFill>
                <a:latin typeface="Menlo"/>
                <a:ea typeface="Menlo"/>
                <a:cs typeface="Menlo"/>
              </a:rPr>
              <a:t>CIERRE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BBFD94-BD5D-4C02-9B15-88B18985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10896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7672DF-25F7-4406-BB61-4E8BC7AB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Si el registro llega tarde, la supervisión remota deja de ser control y se vuelve reconstrucción.</a:t>
            </a:r>
          </a:p>
        </p:txBody>
      </p:sp>
    </p:spTree>
    <p:extLst>
      <p:ext uri="{BB962C8B-B14F-4D97-AF65-F5344CB8AC3E}">
        <p14:creationId xmlns:p14="http://schemas.microsoft.com/office/powerpoint/2010/main" val="12920550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97DC4E-24AC-431F-8D36-C9E80A4F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SETAS DE LA PEÑA · SETAS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58457-3015-45AB-B7AE-49C5BC0B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REV. JUL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EE55A-4975-4751-B462-D567E8E4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59809-DB2F-444C-94B6-C9E0C8CC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196603-33E5-4BD5-94EF-8FB72E6A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Setas OS importa por las decisiones que habilita.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ac2c9726646c8"/>
          <a:srcRect xmlns:a="http://schemas.openxmlformats.org/drawingml/2006/main" l="0" t="18761" r="0" b="187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847850"/>
            <a:ext cx="4000500" cy="3943350"/>
          </a:xfrm>
          <a:prstGeom xmlns:a="http://schemas.openxmlformats.org/drawingml/2006/main" prst="roundRect">
            <a:avLst>
              <a:gd name="adj" fmla="val 289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8AA33-AF17-4A7A-B2F4-58EFBB6F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431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5F7048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5F704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74982-ACE6-4C16-9220-7966AC6D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62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7048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5F7048"/>
                </a:solidFill>
                <a:latin typeface="Menlo"/>
                <a:ea typeface="Menlo"/>
                <a:cs typeface="Menlo"/>
              </a:rPr>
              <a:t>TRAZAR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8ED99-23CF-4FCB-94ED-70D9608A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66950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Saber qué ocurrió con cada contenedor.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DE8FA8-BF35-475A-9FD8-0FE9F720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9900"/>
            <a:ext cx="575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3EBD1-9CB3-4FCA-B9D4-75E0DFCB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004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5F7048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5F7048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8C9063-EC1F-4F4E-98F8-73721A6C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19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7048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5F7048"/>
                </a:solidFill>
                <a:latin typeface="Menlo"/>
                <a:ea typeface="Menlo"/>
                <a:cs typeface="Menlo"/>
              </a:rPr>
              <a:t>COMPARAR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0EFE5-2043-4415-8336-D8E1332B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24250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Leer diferencias entre recetas, cámaras y ciclos.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A0361-C5A4-471B-BB62-4CCB81BE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67200"/>
            <a:ext cx="575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07E985-DF0C-41F9-A3F6-B3AA8A6A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577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A85834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A85834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1EC61-9377-4070-98C1-C49EE55C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76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85834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A85834"/>
                </a:solidFill>
                <a:latin typeface="Menlo"/>
                <a:ea typeface="Menlo"/>
                <a:cs typeface="Menlo"/>
              </a:rPr>
              <a:t>DECIDIR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99D1D8-78E7-432C-9C73-3D252B7A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781550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Convertir evidencia repetida en SOP y nuevas capacidades.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312D57-2397-4DED-B82B-C74BF256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657850"/>
            <a:ext cx="575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1D6C83-23EE-494D-9D09-2881ADE5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724525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DF8"/>
                </a:solidFill>
                <a:latin typeface="Menlo"/>
                <a:ea typeface="Menlo"/>
                <a:cs typeface="Menlo"/>
              </a:defRPr>
            </a:pPr>
            <a:r>
              <a:rPr sz="1125" b="1" i="0">
                <a:solidFill>
                  <a:srgbClr val="FFFDF8"/>
                </a:solidFill>
                <a:latin typeface="Menlo"/>
                <a:ea typeface="Menlo"/>
                <a:cs typeface="Menlo"/>
              </a:rPr>
              <a:t>Funcional y navegable · aún no validado con ciclos productivos completos</a:t>
            </a:r>
          </a:p>
        </p:txBody>
      </p:sp>
    </p:spTree>
    <p:extLst>
      <p:ext uri="{BB962C8B-B14F-4D97-AF65-F5344CB8AC3E}">
        <p14:creationId xmlns:p14="http://schemas.microsoft.com/office/powerpoint/2010/main" val="19182708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52AF98-5778-4485-81A1-F6C80FD1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SETAS DE LA PEÑA · VIABILIDAD COMERCIAL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42A66-1CE4-471E-AC30-61EF5DAF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REV. JUL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FF08C-E8F7-4881-88AB-EC68A98E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A4473-2561-49E0-A3D3-A7AE661C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13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0C20E5-66FD-4213-9284-2D8C761F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La pregunta comercial: ¿cada kilo deja margen?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ABB1F-DD23-4CC4-93FA-05E40125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896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D3A39-37A5-4F26-9C7E-7D5FDB60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1051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DF8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FFFDF8"/>
                </a:solidFill>
                <a:latin typeface="Menlo"/>
                <a:ea typeface="Menlo"/>
                <a:cs typeface="Menlo"/>
              </a:rPr>
              <a:t>PRECIO / KG  −  SUSTRATO  −  ENERGÍA  −  MANO DE OBRA  −  FRÍO  −  TRANSPORTE  =  MARGEN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2794A-FD96-484B-B5EA-E96CA801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7048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5F7048"/>
                </a:solidFill>
                <a:latin typeface="Menlo"/>
                <a:ea typeface="Menlo"/>
                <a:cs typeface="Menlo"/>
              </a:rPr>
              <a:t>VARIABLES PRODUCTIVAS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5508A-939F-4B67-902E-4BE9E34B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3429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1D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F1D18"/>
                </a:solidFill>
                <a:latin typeface="Arial"/>
                <a:ea typeface="Arial"/>
                <a:cs typeface="Arial"/>
              </a:rPr>
              <a:t>• Rendimiento por bloque</a:t>
            </a:r>
          </a:p>
          <a:p xmlns:a="http://schemas.openxmlformats.org/drawingml/2006/main">
            <a:pPr algn="l">
              <a:defRPr sz="1500" b="0" i="0">
                <a:solidFill>
                  <a:srgbClr val="1F1D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F1D18"/>
                </a:solidFill>
                <a:latin typeface="Arial"/>
                <a:ea typeface="Arial"/>
                <a:cs typeface="Arial"/>
              </a:rPr>
              <a:t>• Eficiencia biológica</a:t>
            </a:r>
          </a:p>
          <a:p xmlns:a="http://schemas.openxmlformats.org/drawingml/2006/main">
            <a:pPr algn="l">
              <a:defRPr sz="1500" b="0" i="0">
                <a:solidFill>
                  <a:srgbClr val="1F1D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F1D18"/>
                </a:solidFill>
                <a:latin typeface="Arial"/>
                <a:ea typeface="Arial"/>
                <a:cs typeface="Arial"/>
              </a:rPr>
              <a:t>• Duración del ciclo</a:t>
            </a:r>
          </a:p>
          <a:p xmlns:a="http://schemas.openxmlformats.org/drawingml/2006/main">
            <a:pPr algn="l">
              <a:defRPr sz="1500" b="0" i="0">
                <a:solidFill>
                  <a:srgbClr val="1F1D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F1D18"/>
                </a:solidFill>
                <a:latin typeface="Arial"/>
                <a:ea typeface="Arial"/>
                <a:cs typeface="Arial"/>
              </a:rPr>
              <a:t>• Contaminación y descarte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3AFA1-939D-4280-9AAC-D0050F8D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0900"/>
            <a:ext cx="95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84EA5-D887-4D72-A86D-1A9CFBFA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909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85834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A85834"/>
                </a:solidFill>
                <a:latin typeface="Menlo"/>
                <a:ea typeface="Menlo"/>
                <a:cs typeface="Menlo"/>
              </a:rPr>
              <a:t>VARIABLES COMERCIALES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308A4E-3026-4BAA-B032-5FC05AB6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33800"/>
            <a:ext cx="3429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1D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F1D18"/>
                </a:solidFill>
                <a:latin typeface="Arial"/>
                <a:ea typeface="Arial"/>
                <a:cs typeface="Arial"/>
              </a:rPr>
              <a:t>• Producto y presentación</a:t>
            </a:r>
          </a:p>
          <a:p xmlns:a="http://schemas.openxmlformats.org/drawingml/2006/main">
            <a:pPr algn="l">
              <a:defRPr sz="1500" b="0" i="0">
                <a:solidFill>
                  <a:srgbClr val="1F1D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F1D18"/>
                </a:solidFill>
                <a:latin typeface="Arial"/>
                <a:ea typeface="Arial"/>
                <a:cs typeface="Arial"/>
              </a:rPr>
              <a:t>• Comprador objetivo</a:t>
            </a:r>
          </a:p>
          <a:p xmlns:a="http://schemas.openxmlformats.org/drawingml/2006/main">
            <a:pPr algn="l">
              <a:defRPr sz="1500" b="0" i="0">
                <a:solidFill>
                  <a:srgbClr val="1F1D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F1D18"/>
                </a:solidFill>
                <a:latin typeface="Arial"/>
                <a:ea typeface="Arial"/>
                <a:cs typeface="Arial"/>
              </a:rPr>
              <a:t>• Precio y frecuencia</a:t>
            </a:r>
          </a:p>
          <a:p xmlns:a="http://schemas.openxmlformats.org/drawingml/2006/main">
            <a:pPr algn="l">
              <a:defRPr sz="1500" b="0" i="0">
                <a:solidFill>
                  <a:srgbClr val="1F1D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F1D18"/>
                </a:solidFill>
                <a:latin typeface="Arial"/>
                <a:ea typeface="Arial"/>
                <a:cs typeface="Arial"/>
              </a:rPr>
              <a:t>• Empaque y cadena de frío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986D8D-76BD-4F2E-BC4B-A66D2A96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90900"/>
            <a:ext cx="95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2678DC-B7E8-4483-B2FE-15327A0D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90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7A80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27A80"/>
                </a:solidFill>
                <a:latin typeface="Menlo"/>
                <a:ea typeface="Menlo"/>
                <a:cs typeface="Menlo"/>
              </a:rPr>
              <a:t>EVIDENCIA FALTANTE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3A342-F6EC-4BE9-9ACB-3010CBDD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33800"/>
            <a:ext cx="2381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Costo/kg</a:t>
            </a:r>
          </a:p>
          <a:p xmlns:a="http://schemas.openxmlformats.org/drawingml/2006/main">
            <a:pPr algn="l">
              <a:def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Volumen viable</a:t>
            </a:r>
          </a:p>
          <a:p xmlns:a="http://schemas.openxmlformats.org/drawingml/2006/main">
            <a:pPr algn="l">
              <a:def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Prueba de entrega</a:t>
            </a:r>
          </a:p>
          <a:p xmlns:a="http://schemas.openxmlformats.org/drawingml/2006/main">
            <a:pPr algn="l">
              <a:def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Intención de compra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C6A5CF-051E-4F1B-8851-D53E116D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896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FD6A05-633E-4E8B-9E96-F02247E3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51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A85834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A85834"/>
                </a:solidFill>
                <a:latin typeface="Georgia"/>
                <a:ea typeface="Georgia"/>
                <a:cs typeface="Georgia"/>
              </a:rPr>
              <a:t>No hay primera escala viable hasta completar esta cuenta con datos reales.</a:t>
            </a:r>
          </a:p>
        </p:txBody>
      </p:sp>
    </p:spTree>
    <p:extLst>
      <p:ext uri="{BB962C8B-B14F-4D97-AF65-F5344CB8AC3E}">
        <p14:creationId xmlns:p14="http://schemas.microsoft.com/office/powerpoint/2010/main" val="10551326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5BDD8B-5E84-4F27-8A66-D88A7638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SETAS DE LA PEÑA · HOJA DE RUTA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FDA5E-B822-4459-A816-20695992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REV. JUL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E94A8-2295-4F58-B7FC-8061A653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ED6F0-87F4-4395-BA91-D6004A88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14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28970B-918C-4D3B-90C5-27F10A84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Avanzar por compuertas, no por entusiasmo.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BC987-C65A-4156-94F5-C9B6EB96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5F7048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5F704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63CF3-3EA3-4A07-AC7D-8DFE5822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52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7048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5F7048"/>
                </a:solidFill>
                <a:latin typeface="Menlo"/>
                <a:ea typeface="Menlo"/>
                <a:cs typeface="Menlo"/>
              </a:rPr>
              <a:t>AUTOCLAVE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0E871-034A-43B1-AC09-D7BAAC78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Ciclo comisionado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6C034-30CD-4A1E-BD61-57A409F3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9DB49-1557-40DE-BE69-845422D4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1455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5F7048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5F7048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796A8-3C09-4AE7-88CB-D65C791A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7048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5F7048"/>
                </a:solidFill>
                <a:latin typeface="Menlo"/>
                <a:ea typeface="Menlo"/>
                <a:cs typeface="Menlo"/>
              </a:rPr>
              <a:t>RECETA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99261-F80B-4B9A-821A-BFF56F84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76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Sustrato documentado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A9838-A083-4D95-A58F-FD4609AB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60CFB-C800-41F6-9806-5415BF8D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1455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5F7048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5F7048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5A86D-CE93-4A71-97B0-D618D43E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52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7048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5F7048"/>
                </a:solidFill>
                <a:latin typeface="Menlo"/>
                <a:ea typeface="Menlo"/>
                <a:cs typeface="Menlo"/>
              </a:rPr>
              <a:t>LOTES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5B2D45-A3C2-410A-B666-CA2B3163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76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Muestra comparable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24EE37-8D73-4405-A228-7D737EF0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861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5FAF0E-7620-4FA5-8E05-C9A4C0B8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A85834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A85834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DF630D-5354-42BB-8E20-72F40170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29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85834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A85834"/>
                </a:solidFill>
                <a:latin typeface="Menlo"/>
                <a:ea typeface="Menlo"/>
                <a:cs typeface="Menlo"/>
              </a:rPr>
              <a:t>CONTAMINACIÓN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6ABAE4-37AE-4D23-A713-658F8A4C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529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Bajo umbral acordado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B87D85-28AE-4F7B-AA21-0049BB22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1A865A-BFC0-439D-AACA-2FC80941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9095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A85834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A85834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3F503D-0FE0-43DC-A955-287E868B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29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85834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A85834"/>
                </a:solidFill>
                <a:latin typeface="Menlo"/>
                <a:ea typeface="Menlo"/>
                <a:cs typeface="Menlo"/>
              </a:rPr>
              <a:t>FRUCTIFICACIÓN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6D4C4F-D011-41AE-B9BA-363AB892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529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Estabilidad repetible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629331-A2FF-485A-B240-A2F3F864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81AD40-EB3C-41AB-9FF3-98402248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9095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A85834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A85834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37B37A-5480-4326-BBE0-77F05C5E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29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85834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A85834"/>
                </a:solidFill>
                <a:latin typeface="Menlo"/>
                <a:ea typeface="Menlo"/>
                <a:cs typeface="Menlo"/>
              </a:rPr>
              <a:t>VENTA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24AD1B-3999-4C13-A734-15B650B8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529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Prueba comercial y logística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400EB-6546-4669-B85E-2D57CFC8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625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853DB4-79F7-4686-B465-A24508E0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896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CFD082-0B40-4B94-BF7D-1473403D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0"/>
            <a:ext cx="1043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El tamaño de muestra y los umbrales de éxito deben definirse con criterio experto, no por conveniencia.</a:t>
            </a:r>
          </a:p>
        </p:txBody>
      </p:sp>
    </p:spTree>
    <p:extLst>
      <p:ext uri="{BB962C8B-B14F-4D97-AF65-F5344CB8AC3E}">
        <p14:creationId xmlns:p14="http://schemas.microsoft.com/office/powerpoint/2010/main" val="8402995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21A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AA9166-A0FC-4E6C-8622-DD3CE2E8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6D8CE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D6D8CE"/>
                </a:solidFill>
                <a:latin typeface="Menlo"/>
                <a:ea typeface="Menlo"/>
                <a:cs typeface="Menlo"/>
              </a:rPr>
              <a:t>SETAS DE LA PEÑA · DECISIONES DE LA ASESORÍA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2FEBF-BADD-4359-9E87-E69AC326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D6D8CE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D6D8CE"/>
                </a:solidFill>
                <a:latin typeface="Menlo"/>
                <a:ea typeface="Menlo"/>
                <a:cs typeface="Menlo"/>
              </a:rPr>
              <a:t>REV. JUL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B64CF-6788-4F15-A0B8-04227C7A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4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F18B5-AD45-4303-A501-03C75810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D6D8CE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D6D8CE"/>
                </a:solidFill>
                <a:latin typeface="Menlo"/>
                <a:ea typeface="Menlo"/>
                <a:cs typeface="Menlo"/>
              </a:rPr>
              <a:t>15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1A8CA3-CEB2-446D-AB17-CC78F40B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71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La asesoría debe dejar cinco decisiones claras.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2FD52-3B41-434A-B19C-B8E711A2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7F8E69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7F8E69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278D7-F3A1-4E74-BA2B-4AEEFAF7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383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¿Qué debe cambiar en el flujo físico propuesto?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7CA24-07EE-4E9C-8FE3-29BE998A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98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4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9F13A-867F-4278-AFB3-BDA24C47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A85834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A85834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EC58D-AA7B-4F03-ADCB-0AC853A5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¿Cuál es la instalación mínima que debemos comisionar primero?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99E0B-78DC-4485-AB0C-320CEEC3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528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4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2EA5C-5C29-46F7-AC92-8FD3AC7B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7F8E69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7F8E69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9DA16-A067-41F8-9A30-71D1E345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242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¿Shiitake debe seguir siendo la especie inicial?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07FBAB-CB1D-47CF-9559-BF833C0C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4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9D69C-6314-40DD-8A19-CD83C44E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A85834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A85834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D131F-C4FD-4E5F-84F8-E0D63955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672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¿Qué métricas y umbrales definen un piloto exitoso?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2D5ADC-41C0-4D1C-AF01-A818A110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38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4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C7C4A2-8C0A-4B59-9074-58429511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7F8E69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7F8E69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020130-438F-4831-963C-7EE8586C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101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DF8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FFFDF8"/>
                </a:solidFill>
                <a:latin typeface="Georgia"/>
                <a:ea typeface="Georgia"/>
                <a:cs typeface="Georgia"/>
              </a:rPr>
              <a:t>¿Qué prueba comercial debe ocurrir antes de ampliar capacidad?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4B6D83-8D50-44E4-8687-B7B0A612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816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4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2F93A3-A359-4342-8F26-C8EFC4BD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7695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6D8CE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D6D8CE"/>
                </a:solidFill>
                <a:latin typeface="Menlo"/>
                <a:ea typeface="Menlo"/>
                <a:cs typeface="Menlo"/>
              </a:rPr>
              <a:t>SIGUIENTE PASO · CONVERTIR LAS RESPUESTAS EN UN PLAN DE VALIDACIÓN</a:t>
            </a:r>
          </a:p>
        </p:txBody>
      </p:sp>
    </p:spTree>
    <p:extLst>
      <p:ext uri="{BB962C8B-B14F-4D97-AF65-F5344CB8AC3E}">
        <p14:creationId xmlns:p14="http://schemas.microsoft.com/office/powerpoint/2010/main" val="10681132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95726B-9B6F-4403-835F-14EFBA92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SETAS DE LA PEÑA · APÉNDICE · ESPECIES FUTURAS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80C03-18DF-45BA-B4A8-05F37A1F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REV. JUL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C776C-81C9-4E8B-A4CD-DB964B16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0FFAE-D268-4677-94E6-591E5F29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16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970D50-5D38-443C-9686-588575E6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71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La diversificación viene después de validar el sistema base.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6b904388542ed"/>
          <a:stretch xmlns:a="http://schemas.openxmlformats.org/drawingml/2006/main"/>
        </p:blipFill>
        <p:spPr>
          <a:xfrm xmlns:a="http://schemas.openxmlformats.org/drawingml/2006/main">
            <a:off x="866435" y="2000250"/>
            <a:ext cx="1905679" cy="2381250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7EEE8-AAA4-446F-A61C-1DD08896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F7048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5F7048"/>
                </a:solidFill>
                <a:latin typeface="Menlo"/>
                <a:ea typeface="Menlo"/>
                <a:cs typeface="Menlo"/>
              </a:rPr>
              <a:t>HERICIUM ERINACEUS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F5D2E-2844-4EBE-80BE-94EB268B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Melena de león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28c8133f4416b"/>
          <a:stretch xmlns:a="http://schemas.openxmlformats.org/drawingml/2006/main"/>
        </p:blipFill>
        <p:spPr>
          <a:xfrm xmlns:a="http://schemas.openxmlformats.org/drawingml/2006/main">
            <a:off x="3371850" y="2019300"/>
            <a:ext cx="2343150" cy="2343150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DA406-12BD-4A1C-9EF0-C9C3FF5A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720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85834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A85834"/>
                </a:solidFill>
                <a:latin typeface="Menlo"/>
                <a:ea typeface="Menlo"/>
                <a:cs typeface="Menlo"/>
              </a:rPr>
              <a:t>GANODERMA LUCIDUM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4EAB3-FFC4-4D60-B66C-7FDA8131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95850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Reishi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2fbb956af4b14"/>
          <a:stretch xmlns:a="http://schemas.openxmlformats.org/drawingml/2006/main"/>
        </p:blipFill>
        <p:spPr>
          <a:xfrm xmlns:a="http://schemas.openxmlformats.org/drawingml/2006/main">
            <a:off x="6096000" y="2019300"/>
            <a:ext cx="2343150" cy="2343150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E7DE5-E32B-452B-AB00-DE0D883A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27A80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27A80"/>
                </a:solidFill>
                <a:latin typeface="Menlo"/>
                <a:ea typeface="Menlo"/>
                <a:cs typeface="Menlo"/>
              </a:rPr>
              <a:t>PLEUROTUS ERYNGII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6BD15-D46D-4329-B3B8-FBE2E30C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95850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Seta de cardo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9c826a2fe4e94"/>
          <a:stretch xmlns:a="http://schemas.openxmlformats.org/drawingml/2006/main"/>
        </p:blipFill>
        <p:spPr>
          <a:xfrm xmlns:a="http://schemas.openxmlformats.org/drawingml/2006/main">
            <a:off x="8820150" y="2019300"/>
            <a:ext cx="2343150" cy="2343150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829476-ECB0-4399-B41E-802CB2CE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5720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9A7A42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9A7A42"/>
                </a:solidFill>
                <a:latin typeface="Menlo"/>
                <a:ea typeface="Menlo"/>
                <a:cs typeface="Menlo"/>
              </a:rPr>
              <a:t>PHOLIOTA MICROSPORA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09226E-06F9-4AD1-8E8A-7A4FE8DA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95850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Nameko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BCFD81-4965-4D89-81A3-483A55C5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0896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314744-5307-498E-8CBC-758D8A5C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769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Portafolio futuro; ninguna especie adicional se presenta como compromiso operativo actual.</a:t>
            </a:r>
          </a:p>
        </p:txBody>
      </p:sp>
    </p:spTree>
    <p:extLst>
      <p:ext uri="{BB962C8B-B14F-4D97-AF65-F5344CB8AC3E}">
        <p14:creationId xmlns:p14="http://schemas.microsoft.com/office/powerpoint/2010/main" val="6229048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A7BB4-1E46-4C38-AAAD-5DD8381B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SETAS DE LA PEÑA · APÉNDICE · ESTADO DETALLADO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FA76E-687D-42B1-9BCD-44D5C976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REV. JUL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1E3C35-0076-48F6-838E-0307CEA6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2DED8-1D81-4C26-8126-EC53F41E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17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0BEF04-3666-478E-B3C2-D08AB4B8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Cada sistema avanza por estados distintos.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b9204a22d4fdd"/>
          <a:srcRect xmlns:a="http://schemas.openxmlformats.org/drawingml/2006/main" l="0" t="25679" r="0" b="256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752600"/>
            <a:ext cx="108966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B7417-19E8-4E56-9A20-97F6A583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FUENTE · PANORAMA GENERAL - SDLP · FIG. 07</a:t>
            </a:r>
          </a:p>
        </p:txBody>
      </p:sp>
    </p:spTree>
    <p:extLst>
      <p:ext uri="{BB962C8B-B14F-4D97-AF65-F5344CB8AC3E}">
        <p14:creationId xmlns:p14="http://schemas.microsoft.com/office/powerpoint/2010/main" val="10887376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54B85-174D-4CB9-8F91-919BCB54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SETAS DE LA PEÑA · APÉNDICE · INCUBACIÓN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DE91E-1153-40DD-B7DB-BD910D3B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REV. JUL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3A1B3-E34C-432B-B315-CA3B5011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39A35-A27F-4BCD-A232-6208A3BE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18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950E3F-FC38-4381-B5BC-62554E72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Aún no hay un estándar de incubación.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12100355149ab"/>
          <a:srcRect xmlns:a="http://schemas.openxmlformats.org/drawingml/2006/main" l="0" t="27262" r="0" b="272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809750"/>
            <a:ext cx="10896600" cy="3829050"/>
          </a:xfrm>
          <a:prstGeom xmlns:a="http://schemas.openxmlformats.org/drawingml/2006/main" prst="roundRect">
            <a:avLst>
              <a:gd name="adj" fmla="val 298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56849-5D88-45E2-9BA7-6DDF7366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10896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5CEAF-8159-4182-8026-3466D903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1055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DF8"/>
                </a:solidFill>
                <a:latin typeface="Menlo"/>
                <a:ea typeface="Menlo"/>
                <a:cs typeface="Menlo"/>
              </a:defRPr>
            </a:pPr>
            <a:r>
              <a:rPr sz="1125" b="1" i="0">
                <a:solidFill>
                  <a:srgbClr val="FFFDF8"/>
                </a:solidFill>
                <a:latin typeface="Menlo"/>
                <a:ea typeface="Menlo"/>
                <a:cs typeface="Menlo"/>
              </a:rPr>
              <a:t>Variables críticas: calentamiento · estabilidad · consumo · mantenimiento · condensación · puntos calientes</a:t>
            </a:r>
          </a:p>
        </p:txBody>
      </p:sp>
    </p:spTree>
    <p:extLst>
      <p:ext uri="{BB962C8B-B14F-4D97-AF65-F5344CB8AC3E}">
        <p14:creationId xmlns:p14="http://schemas.microsoft.com/office/powerpoint/2010/main" val="19019371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669F43-FB72-4CF5-821E-82F96268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SETAS DE LA PEÑA · APÉNDICE · PLANO TÉCNICO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E4D2E-6AB7-405E-B0B5-236A79AA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REV. JUL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AD0C3-CD4A-4DA1-8931-04469308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862DD-3553-4624-A9A0-399BC55C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19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D0D2B4-B838-4B94-AC7F-847F15E6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El blueprint es una hipótesis, no una obra aprobada.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7cce003d54f3d"/>
          <a:srcRect xmlns:a="http://schemas.openxmlformats.org/drawingml/2006/main" l="0" t="20749" r="0" b="207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09750" y="1695450"/>
            <a:ext cx="9734550" cy="4400550"/>
          </a:xfrm>
          <a:prstGeom xmlns:a="http://schemas.openxmlformats.org/drawingml/2006/main" prst="roundRect">
            <a:avLst>
              <a:gd name="adj" fmla="val 259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06CE4-6F28-421C-8F2E-AB076B1E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9334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2699F-9DF5-4BFA-B1C9-0A8AD11C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7F8E69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7F8E69"/>
                </a:solidFill>
                <a:latin typeface="Menlo"/>
                <a:ea typeface="Menlo"/>
                <a:cs typeface="Menlo"/>
              </a:rPr>
              <a:t>ESTADO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242F2-1955-41C0-B2F5-877D0754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DF8"/>
                </a:solidFill>
                <a:latin typeface="Menlo"/>
                <a:ea typeface="Menlo"/>
                <a:cs typeface="Menlo"/>
              </a:defRPr>
            </a:pPr>
            <a:r>
              <a:rPr sz="750" b="1" i="0">
                <a:solidFill>
                  <a:srgbClr val="FFFDF8"/>
                </a:solidFill>
                <a:latin typeface="Menlo"/>
                <a:ea typeface="Menlo"/>
                <a:cs typeface="Menlo"/>
              </a:rPr>
              <a:t>PROPUESTA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FC6FE-A648-4AA2-A7A0-4ACAAC99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DF8"/>
                </a:solidFill>
                <a:latin typeface="Menlo"/>
                <a:ea typeface="Menlo"/>
                <a:cs typeface="Menlo"/>
              </a:defRPr>
            </a:pPr>
            <a:r>
              <a:rPr sz="1125" b="1" i="0">
                <a:solidFill>
                  <a:srgbClr val="FFFDF8"/>
                </a:solidFill>
                <a:latin typeface="Menlo"/>
                <a:ea typeface="Menlo"/>
                <a:cs typeface="Menlo"/>
              </a:rPr>
              <a:t>REVISAR</a:t>
            </a:r>
          </a:p>
          <a:p xmlns:a="http://schemas.openxmlformats.org/drawingml/2006/main">
            <a:pPr algn="ctr">
              <a:defRPr sz="1125" b="1" i="0">
                <a:solidFill>
                  <a:srgbClr val="FFFDF8"/>
                </a:solidFill>
                <a:latin typeface="Menlo"/>
                <a:ea typeface="Menlo"/>
                <a:cs typeface="Menlo"/>
              </a:defRPr>
            </a:pPr>
            <a:r>
              <a:rPr sz="1125" b="1" i="0">
                <a:solidFill>
                  <a:srgbClr val="FFFDF8"/>
                </a:solidFill>
                <a:latin typeface="Menlo"/>
                <a:ea typeface="Menlo"/>
                <a:cs typeface="Menlo"/>
              </a:rPr>
              <a:t>EN SITIO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2D24A2-7970-47F1-A130-5B40DADA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59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4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9F68A-0D75-4F10-92F9-23CD6263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7810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D6D8CE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D6D8CE"/>
                </a:solidFill>
                <a:latin typeface="Arial"/>
                <a:ea typeface="Arial"/>
                <a:cs typeface="Arial"/>
              </a:rPr>
              <a:t>Alturas</a:t>
            </a:r>
          </a:p>
          <a:p xmlns:a="http://schemas.openxmlformats.org/drawingml/2006/main">
            <a:pPr algn="ctr">
              <a:defRPr sz="975" b="0" i="0">
                <a:solidFill>
                  <a:srgbClr val="D6D8CE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D6D8CE"/>
                </a:solidFill>
                <a:latin typeface="Arial"/>
                <a:ea typeface="Arial"/>
                <a:cs typeface="Arial"/>
              </a:rPr>
              <a:t>Drenajes</a:t>
            </a:r>
          </a:p>
          <a:p xmlns:a="http://schemas.openxmlformats.org/drawingml/2006/main">
            <a:pPr algn="ctr">
              <a:defRPr sz="975" b="0" i="0">
                <a:solidFill>
                  <a:srgbClr val="D6D8CE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D6D8CE"/>
                </a:solidFill>
                <a:latin typeface="Arial"/>
                <a:ea typeface="Arial"/>
                <a:cs typeface="Arial"/>
              </a:rPr>
              <a:t>Cargas</a:t>
            </a:r>
          </a:p>
          <a:p xmlns:a="http://schemas.openxmlformats.org/drawingml/2006/main">
            <a:pPr algn="ctr">
              <a:defRPr sz="975" b="0" i="0">
                <a:solidFill>
                  <a:srgbClr val="D6D8CE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D6D8CE"/>
                </a:solidFill>
                <a:latin typeface="Arial"/>
                <a:ea typeface="Arial"/>
                <a:cs typeface="Arial"/>
              </a:rPr>
              <a:t>Gas / agua</a:t>
            </a:r>
          </a:p>
          <a:p xmlns:a="http://schemas.openxmlformats.org/drawingml/2006/main">
            <a:pPr algn="ctr">
              <a:defRPr sz="975" b="0" i="0">
                <a:solidFill>
                  <a:srgbClr val="D6D8CE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D6D8CE"/>
                </a:solidFill>
                <a:latin typeface="Arial"/>
                <a:ea typeface="Arial"/>
                <a:cs typeface="Arial"/>
              </a:rPr>
              <a:t>Flujos</a:t>
            </a:r>
          </a:p>
          <a:p xmlns:a="http://schemas.openxmlformats.org/drawingml/2006/main">
            <a:pPr algn="ctr">
              <a:defRPr sz="975" b="0" i="0">
                <a:solidFill>
                  <a:srgbClr val="D6D8CE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D6D8CE"/>
                </a:solidFill>
                <a:latin typeface="Arial"/>
                <a:ea typeface="Arial"/>
                <a:cs typeface="Arial"/>
              </a:rPr>
              <a:t>Esclusa</a:t>
            </a:r>
          </a:p>
        </p:txBody>
      </p:sp>
    </p:spTree>
    <p:extLst>
      <p:ext uri="{BB962C8B-B14F-4D97-AF65-F5344CB8AC3E}">
        <p14:creationId xmlns:p14="http://schemas.microsoft.com/office/powerpoint/2010/main" val="17045597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6EEF1A-D621-48BC-B06E-C491C745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SETAS DE LA PEÑA · APÉNDICE · SETAS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F463F-36FB-432A-A9BB-C832DE5E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REV. JUL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9516E-7762-443F-BF7E-79749DAF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18EB1-969C-4DE9-991E-52D751CC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20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37DD91-96A8-429F-91D6-2BB97B38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Cada contenedor conserva su propia historia.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e9487a79e46d6"/>
          <a:srcRect xmlns:a="http://schemas.openxmlformats.org/drawingml/2006/main" l="0" t="12635" r="0" b="126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809750"/>
            <a:ext cx="676275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E8D7C-83A9-4E94-B9EA-79481FA8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7048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5F7048"/>
                </a:solidFill>
                <a:latin typeface="Menlo"/>
                <a:ea typeface="Menlo"/>
                <a:cs typeface="Menlo"/>
              </a:rPr>
              <a:t>REGISTRO MÍNIMO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36B7C-0247-4BDF-9749-AF852494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F7048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5F704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8A311-2D29-4B53-8C2E-67CB2B5A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Contenedor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FD40D-0EBC-4C18-A369-E58886BD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DF567-A4BC-4FCE-943B-5B841487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146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F7048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5F7048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A17CB-DB8F-4060-AEAB-004BD397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14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Fecha y autor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6A54F8-4CF2-4867-842B-581C9AA7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956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3A5BDB-3725-4976-A151-96356D8C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29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F7048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5F7048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454C7E-22EB-4D1C-B671-43E9D976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Evento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DD6A5A-B2DA-41C2-9034-ACF83DCA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100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09EDAA-A652-47FD-8D19-D6E5495E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433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F7048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5F7048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81BCFA-849C-4BBB-BFCC-D6E4A949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433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Condición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5B4C44-BADC-46F4-84C3-A604CE6F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243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49E8E-7DA7-441D-B6A2-B99E8AE3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577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F7048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5F7048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106B5D-E8F9-407C-BD52-22A4DA41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57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Resultado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DBD0FC-37CE-44F0-A574-8D0E5A32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387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C7B55B-D286-48C5-A889-F5FF94F8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720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8583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A85834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23919-DBE4-4B21-8787-B4AF4054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720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Enmienda, no borrado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7BDD8C-8D25-415A-8BB7-03856D87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530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4FE3C9-741B-476D-9D94-1DEA05AA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PANTALLAS DE DEMOSTRACIÓN · NO EVIDENCIA DE VALIDACIÓN PRODUCTIVA</a:t>
            </a:r>
          </a:p>
        </p:txBody>
      </p:sp>
    </p:spTree>
    <p:extLst>
      <p:ext uri="{BB962C8B-B14F-4D97-AF65-F5344CB8AC3E}">
        <p14:creationId xmlns:p14="http://schemas.microsoft.com/office/powerpoint/2010/main" val="8977147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84825-30E8-4A62-8AF4-B83AE969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SETAS DE LA PEÑA · APÉNDICE · FRENTES ABIERTOS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F7149-DD82-4C27-B577-DE7B3D47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REV. JUL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43406-8099-47C5-B00A-52E74BE8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78157-7E5B-4DCB-92FA-42E3D11E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F6A5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6F6A5F"/>
                </a:solidFill>
                <a:latin typeface="Menlo"/>
                <a:ea typeface="Menlo"/>
                <a:cs typeface="Menlo"/>
              </a:rPr>
              <a:t>21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F6D9F0-5430-40C2-BF32-55CD8D8A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F1D18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1F1D18"/>
                </a:solidFill>
                <a:latin typeface="Georgia"/>
                <a:ea typeface="Georgia"/>
                <a:cs typeface="Georgia"/>
              </a:rPr>
              <a:t>Los frentes abiertos deben volverse compuertas verificables.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a36a5fb614747"/>
          <a:srcRect xmlns:a="http://schemas.openxmlformats.org/drawingml/2006/main" l="0" t="27941" r="0" b="279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885950"/>
            <a:ext cx="108966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9B8B8-D62D-4E34-B32D-7AE08E0E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10896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5269D-3605-484F-BA78-50CE1E3E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48350"/>
            <a:ext cx="1055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8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FFFDF8"/>
                </a:solidFill>
                <a:latin typeface="Menlo"/>
                <a:ea typeface="Menlo"/>
                <a:cs typeface="Menlo"/>
              </a:rPr>
              <a:t>Infraestructura · especies · procesos · datos · producto y circulación</a:t>
            </a:r>
          </a:p>
        </p:txBody>
      </p:sp>
    </p:spTree>
    <p:extLst>
      <p:ext uri="{BB962C8B-B14F-4D97-AF65-F5344CB8AC3E}">
        <p14:creationId xmlns:p14="http://schemas.microsoft.com/office/powerpoint/2010/main" val="3284061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2026-07-22T00:37:09.3070000Z</dcterms:created>
  <dcterms:modified xsi:type="dcterms:W3CDTF">2026-07-22T00:37:09.3070000Z</dcterms:modified>
</coreProperties>
</file>