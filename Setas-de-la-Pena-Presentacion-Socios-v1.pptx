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C4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F2E8D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SETAS DE LA PEÑA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10881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>
                <a:solidFill>
                  <a:srgbClr val="F2E8D6"/>
                </a:solidFill>
                <a:latin typeface="GayaPatched" pitchFamily="34" charset="0"/>
                <a:ea typeface="GayaPatched" pitchFamily="34" charset="-122"/>
                <a:cs typeface="GayaPatched" pitchFamily="34" charset="-120"/>
              </a:rPr>
              <a:t>Pleurotus de precisión,</a:t>
            </a:r>
            <a:endParaRPr lang="en-US" sz="4800" dirty="0"/>
          </a:p>
          <a:p>
            <a:pPr algn="l" indent="0" marL="0">
              <a:buNone/>
            </a:pPr>
            <a:r>
              <a:rPr lang="en-US" sz="4800" dirty="0">
                <a:solidFill>
                  <a:srgbClr val="F2E8D6"/>
                </a:solidFill>
                <a:latin typeface="GayaPatched" pitchFamily="34" charset="0"/>
                <a:ea typeface="GayaPatched" pitchFamily="34" charset="-122"/>
                <a:cs typeface="GayaPatched" pitchFamily="34" charset="-120"/>
              </a:rPr>
              <a:t>cultivado a la sombra</a:t>
            </a:r>
            <a:endParaRPr lang="en-US" sz="4800" dirty="0"/>
          </a:p>
          <a:p>
            <a:pPr algn="l" indent="0" marL="0">
              <a:buNone/>
            </a:pPr>
            <a:r>
              <a:rPr lang="en-US" sz="4800" dirty="0">
                <a:solidFill>
                  <a:srgbClr val="F2E8D6"/>
                </a:solidFill>
                <a:latin typeface="GayaPatched" pitchFamily="34" charset="0"/>
                <a:ea typeface="GayaPatched" pitchFamily="34" charset="-122"/>
                <a:cs typeface="GayaPatched" pitchFamily="34" charset="-120"/>
              </a:rPr>
              <a:t>de la Peña de Juaica.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640080" y="5212080"/>
            <a:ext cx="548640" cy="36576"/>
          </a:xfrm>
          <a:prstGeom prst="rect">
            <a:avLst/>
          </a:prstGeom>
          <a:solidFill>
            <a:srgbClr val="F2E8D6"/>
          </a:solidFill>
          <a:ln w="12700">
            <a:solidFill>
              <a:srgbClr val="F2E8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3492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2E8D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Tenjo, Cundinamarca · Presentación a socios · 2026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63093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2E8D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Documento confidencial. Datos operativos en supuestos transparentes; cifras de cierre bajo NDA.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E8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36576" cy="5760720"/>
          </a:xfrm>
          <a:prstGeom prst="rect">
            <a:avLst/>
          </a:prstGeom>
          <a:solidFill>
            <a:srgbClr val="8C4026"/>
          </a:solidFill>
          <a:ln w="12700">
            <a:solidFill>
              <a:srgbClr val="8C40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8C402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 — QUIÉNES SOMOS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" y="100584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rgbClr val="5A3725"/>
                </a:solidFill>
                <a:latin typeface="GayaPatched" pitchFamily="34" charset="0"/>
                <a:ea typeface="GayaPatched" pitchFamily="34" charset="-122"/>
                <a:cs typeface="GayaPatched" pitchFamily="34" charset="-120"/>
              </a:rPr>
              <a:t>Cultivo de orellanas con rigor agronómico,</a:t>
            </a:r>
            <a:endParaRPr lang="en-US" sz="3400" dirty="0"/>
          </a:p>
          <a:p>
            <a:pPr algn="l" indent="0" marL="0">
              <a:buNone/>
            </a:pPr>
            <a:r>
              <a:rPr lang="en-US" sz="3400" dirty="0">
                <a:solidFill>
                  <a:srgbClr val="5A3725"/>
                </a:solidFill>
                <a:latin typeface="GayaPatched" pitchFamily="34" charset="0"/>
                <a:ea typeface="GayaPatched" pitchFamily="34" charset="-122"/>
                <a:cs typeface="GayaPatched" pitchFamily="34" charset="-120"/>
              </a:rPr>
              <a:t>a 2.592 msnm.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77240" y="3291840"/>
            <a:ext cx="164592" cy="164592"/>
          </a:xfrm>
          <a:prstGeom prst="rect">
            <a:avLst/>
          </a:prstGeom>
          <a:solidFill>
            <a:srgbClr val="8C4026"/>
          </a:solidFill>
          <a:ln w="12700">
            <a:solidFill>
              <a:srgbClr val="8C40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6118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A3725"/>
                </a:solidFill>
                <a:latin typeface="GayaPatched" pitchFamily="34" charset="0"/>
                <a:ea typeface="GayaPatched" pitchFamily="34" charset="-122"/>
                <a:cs typeface="GayaPatched" pitchFamily="34" charset="-120"/>
              </a:rPr>
              <a:t>Pleurotus ostreatus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416052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A37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Variedad gourmet de maduración lenta, textura firme, perfil umami que aguanta cocción larga.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34840" y="3291840"/>
            <a:ext cx="164592" cy="164592"/>
          </a:xfrm>
          <a:prstGeom prst="rect">
            <a:avLst/>
          </a:prstGeom>
          <a:solidFill>
            <a:srgbClr val="8C4026"/>
          </a:solidFill>
          <a:ln w="12700">
            <a:solidFill>
              <a:srgbClr val="8C40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34840" y="36118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A3725"/>
                </a:solidFill>
                <a:latin typeface="GayaPatched" pitchFamily="34" charset="0"/>
                <a:ea typeface="GayaPatched" pitchFamily="34" charset="-122"/>
                <a:cs typeface="GayaPatched" pitchFamily="34" charset="-120"/>
              </a:rPr>
              <a:t>Tenjo, 2.592 msnm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34840" y="416052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A37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Clima frío estable de la Sabana de Bogotá. A 40 km del primer cliente. Logística baja, frescura alta.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92440" y="3291840"/>
            <a:ext cx="164592" cy="164592"/>
          </a:xfrm>
          <a:prstGeom prst="rect">
            <a:avLst/>
          </a:prstGeom>
          <a:solidFill>
            <a:srgbClr val="8C4026"/>
          </a:solidFill>
          <a:ln w="12700">
            <a:solidFill>
              <a:srgbClr val="8C40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92440" y="36118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A3725"/>
                </a:solidFill>
                <a:latin typeface="GayaPatched" pitchFamily="34" charset="0"/>
                <a:ea typeface="GayaPatched" pitchFamily="34" charset="-122"/>
                <a:cs typeface="GayaPatched" pitchFamily="34" charset="-120"/>
              </a:rPr>
              <a:t>Modular y escalable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092440" y="416052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A37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Automatización viable de bajo y mediano costo. Crecemos sumando módulos independientes, no aumentando riesgo.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A37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Setas de la Peña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37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E8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36576" cy="5760720"/>
          </a:xfrm>
          <a:prstGeom prst="rect">
            <a:avLst/>
          </a:prstGeom>
          <a:solidFill>
            <a:srgbClr val="8C4026"/>
          </a:solidFill>
          <a:ln w="12700">
            <a:solidFill>
              <a:srgbClr val="8C40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8C402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 — POR QUÉ AHORA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" y="10058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5A3725"/>
                </a:solidFill>
                <a:latin typeface="GayaPatched" pitchFamily="34" charset="0"/>
                <a:ea typeface="GayaPatched" pitchFamily="34" charset="-122"/>
                <a:cs typeface="GayaPatched" pitchFamily="34" charset="-120"/>
              </a:rPr>
              <a:t>El mercado de hongos gourmet en Bogotá</a:t>
            </a:r>
            <a:endParaRPr lang="en-US" sz="3000" dirty="0"/>
          </a:p>
          <a:p>
            <a:pPr algn="l" indent="0" marL="0">
              <a:buNone/>
            </a:pPr>
            <a:r>
              <a:rPr lang="en-US" sz="3000" dirty="0">
                <a:solidFill>
                  <a:srgbClr val="5A3725"/>
                </a:solidFill>
                <a:latin typeface="GayaPatched" pitchFamily="34" charset="0"/>
                <a:ea typeface="GayaPatched" pitchFamily="34" charset="-122"/>
                <a:cs typeface="GayaPatched" pitchFamily="34" charset="-120"/>
              </a:rPr>
              <a:t>pide producto local y consistente.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310896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8C4026"/>
                </a:solidFill>
                <a:latin typeface="GayaPatched" pitchFamily="34" charset="0"/>
                <a:ea typeface="GayaPatched" pitchFamily="34" charset="-122"/>
                <a:cs typeface="GayaPatched" pitchFamily="34" charset="-120"/>
              </a:rPr>
              <a:t>200+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777240" y="448056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37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Restaurantes gourmet en Bogotá con demanda activa de hongos especialidad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434840" y="310896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8C4026"/>
                </a:solidFill>
                <a:latin typeface="GayaPatched" pitchFamily="34" charset="0"/>
                <a:ea typeface="GayaPatched" pitchFamily="34" charset="-122"/>
                <a:cs typeface="GayaPatched" pitchFamily="34" charset="-120"/>
              </a:rPr>
              <a:t>~85%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4434840" y="448056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37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 Pleurotus que se consume premium en Bogotá es importado o cultivado fuera del rango de calidad gourmet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92440" y="310896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8C4026"/>
                </a:solidFill>
                <a:latin typeface="GayaPatched" pitchFamily="34" charset="0"/>
                <a:ea typeface="GayaPatched" pitchFamily="34" charset="-122"/>
                <a:cs typeface="GayaPatched" pitchFamily="34" charset="-120"/>
              </a:rPr>
              <a:t>40 km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8092440" y="448056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37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 Tenjo a Bogotá. Cosecha del día llegando al cliente sin cadena de frío rota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37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Supuestos: estimaciones trianguladas a partir de bases públicas (Acodres, distribuidores mayoristas, observación directa de retail premium). Validación detallada disponible bajo NDA.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A37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Setas de la Peña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37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E8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36576" cy="5760720"/>
          </a:xfrm>
          <a:prstGeom prst="rect">
            <a:avLst/>
          </a:prstGeom>
          <a:solidFill>
            <a:srgbClr val="8C4026"/>
          </a:solidFill>
          <a:ln w="12700">
            <a:solidFill>
              <a:srgbClr val="8C40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8C402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 — QUÉ HACEMOS DISTINTO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" y="1005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5A3725"/>
                </a:solidFill>
                <a:latin typeface="GayaPatched" pitchFamily="34" charset="0"/>
                <a:ea typeface="GayaPatched" pitchFamily="34" charset="-122"/>
                <a:cs typeface="GayaPatched" pitchFamily="34" charset="-120"/>
              </a:rPr>
              <a:t>Cultivo en sombra. Producto en silencio.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A37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 marca opera bajo un principio: el producto habla, el marketing no estorba. La operación lo refleja en tres pilares.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8346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4C5B3A"/>
                </a:solidFill>
                <a:latin typeface="GayaPatched" pitchFamily="34" charset="0"/>
                <a:ea typeface="GayaPatched" pitchFamily="34" charset="-122"/>
                <a:cs typeface="GayaPatched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77240" y="33375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3725"/>
                </a:solidFill>
                <a:latin typeface="GayaPatched" pitchFamily="34" charset="0"/>
                <a:ea typeface="GayaPatched" pitchFamily="34" charset="-122"/>
                <a:cs typeface="GayaPatched" pitchFamily="34" charset="-120"/>
              </a:rPr>
              <a:t>Sombra técnica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3886200"/>
            <a:ext cx="3200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5A37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Cultivo en cámaras de sombra controlada con humedad, temperatura y CO₂ monitoreados. Ciclos lentos de seis semanas que dan textura firme y perfil de sabor consistente, no producción acelerada de baja densidad.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434840" y="28346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4C5B3A"/>
                </a:solidFill>
                <a:latin typeface="GayaPatched" pitchFamily="34" charset="0"/>
                <a:ea typeface="GayaPatched" pitchFamily="34" charset="-122"/>
                <a:cs typeface="GayaPatched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434840" y="33375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3725"/>
                </a:solidFill>
                <a:latin typeface="GayaPatched" pitchFamily="34" charset="0"/>
                <a:ea typeface="GayaPatched" pitchFamily="34" charset="-122"/>
                <a:cs typeface="GayaPatched" pitchFamily="34" charset="-120"/>
              </a:rPr>
              <a:t>Modularidad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434840" y="3886200"/>
            <a:ext cx="3200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5A37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Cada cámara opera independiente: incubación, fructificación, cosecha y limpieza. Crecemos por suma de módulos, no por escala monolítica. Una contaminación en cámara 2 no detiene cámara 3.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092440" y="28346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4C5B3A"/>
                </a:solidFill>
                <a:latin typeface="GayaPatched" pitchFamily="34" charset="0"/>
                <a:ea typeface="GayaPatched" pitchFamily="34" charset="-122"/>
                <a:cs typeface="GayaPatched" pitchFamily="34" charset="-120"/>
              </a:rPr>
              <a:t>03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092440" y="33375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3725"/>
                </a:solidFill>
                <a:latin typeface="GayaPatched" pitchFamily="34" charset="0"/>
                <a:ea typeface="GayaPatched" pitchFamily="34" charset="-122"/>
                <a:cs typeface="GayaPatched" pitchFamily="34" charset="-120"/>
              </a:rPr>
              <a:t>Trazabilidad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092440" y="3886200"/>
            <a:ext cx="3200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5A37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Cada lote queda asociado a su cámara, día de cosecha, sustrato y operario. El cliente sabe qué compra. Auditoría operativa interna es directa y permite mejora continua de procesos.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A37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Setas de la Peña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37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E8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36576" cy="5760720"/>
          </a:xfrm>
          <a:prstGeom prst="rect">
            <a:avLst/>
          </a:prstGeom>
          <a:solidFill>
            <a:srgbClr val="8C4026"/>
          </a:solidFill>
          <a:ln w="12700">
            <a:solidFill>
              <a:srgbClr val="8C40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8C402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 — LÍNEA DE PRODUCTO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" y="1005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5A3725"/>
                </a:solidFill>
                <a:latin typeface="GayaPatched" pitchFamily="34" charset="0"/>
                <a:ea typeface="GayaPatched" pitchFamily="34" charset="-122"/>
                <a:cs typeface="GayaPatched" pitchFamily="34" charset="-120"/>
              </a:rPr>
              <a:t>Una línea principal hoy. Dos extensiones planeadas.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77240" y="2697480"/>
            <a:ext cx="1280160" cy="320040"/>
          </a:xfrm>
          <a:prstGeom prst="rect">
            <a:avLst/>
          </a:prstGeom>
          <a:solidFill>
            <a:srgbClr val="8C4026"/>
          </a:solidFill>
          <a:ln w="12700">
            <a:solidFill>
              <a:srgbClr val="8C40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6974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2E8D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AHORA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331720" y="24688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3725"/>
                </a:solidFill>
                <a:latin typeface="GayaPatched" pitchFamily="34" charset="0"/>
                <a:ea typeface="GayaPatched" pitchFamily="34" charset="-122"/>
                <a:cs typeface="GayaPatched" pitchFamily="34" charset="-120"/>
              </a:rPr>
              <a:t>Orellanas frescas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715000" y="2377440"/>
            <a:ext cx="56994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37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Pleurotus ostreatus. Presentaciones de 250 g y 500 g. Cosecha bajo pedido. Canal: restaurantes gourmet, mercados especializados, retail premium.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3493008"/>
            <a:ext cx="10515600" cy="0"/>
          </a:xfrm>
          <a:prstGeom prst="line">
            <a:avLst/>
          </a:prstGeom>
          <a:noFill/>
          <a:ln w="6350">
            <a:solidFill>
              <a:srgbClr val="5A3725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4023360"/>
            <a:ext cx="1280160" cy="320040"/>
          </a:xfrm>
          <a:prstGeom prst="rect">
            <a:avLst/>
          </a:prstGeom>
          <a:solidFill>
            <a:srgbClr val="4C5B3A"/>
          </a:solidFill>
          <a:ln w="12700">
            <a:solidFill>
              <a:srgbClr val="4C5B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0233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2E8D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+12 MESES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331720" y="37947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3725"/>
                </a:solidFill>
                <a:latin typeface="GayaPatched" pitchFamily="34" charset="0"/>
                <a:ea typeface="GayaPatched" pitchFamily="34" charset="-122"/>
                <a:cs typeface="GayaPatched" pitchFamily="34" charset="-120"/>
              </a:rPr>
              <a:t>Deshidratadas 50 g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715000" y="3703320"/>
            <a:ext cx="56994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37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Misma orellana, secado a baja temperatura para conservar perfil aromático. Vida útil de 12 meses. Canal: mercado urbano, regalo gourmet, exportación piloto.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" y="4818888"/>
            <a:ext cx="10515600" cy="0"/>
          </a:xfrm>
          <a:prstGeom prst="line">
            <a:avLst/>
          </a:prstGeom>
          <a:noFill/>
          <a:ln w="6350">
            <a:solidFill>
              <a:srgbClr val="5A3725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5349240"/>
            <a:ext cx="1280160" cy="320040"/>
          </a:xfrm>
          <a:prstGeom prst="rect">
            <a:avLst/>
          </a:prstGeom>
          <a:solidFill>
            <a:srgbClr val="607F86"/>
          </a:solidFill>
          <a:ln w="12700">
            <a:solidFill>
              <a:srgbClr val="607F8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53492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2E8D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+18–24 MESES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331720" y="51206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3725"/>
                </a:solidFill>
                <a:latin typeface="GayaPatched" pitchFamily="34" charset="0"/>
                <a:ea typeface="GayaPatched" pitchFamily="34" charset="-122"/>
                <a:cs typeface="GayaPatched" pitchFamily="34" charset="-120"/>
              </a:rPr>
              <a:t>Extractos y harinas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715000" y="5029200"/>
            <a:ext cx="56994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37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Valor agregado sobre material que no clasifica como producto fresco. Margen mayor, almacenamiento estable. Sujeto a registros sanitarios (INVIMA).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A37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Setas de la Peña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37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E8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36576" cy="5760720"/>
          </a:xfrm>
          <a:prstGeom prst="rect">
            <a:avLst/>
          </a:prstGeom>
          <a:solidFill>
            <a:srgbClr val="8C4026"/>
          </a:solidFill>
          <a:ln w="12700">
            <a:solidFill>
              <a:srgbClr val="8C40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8C402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 — MODELO OPERATIVO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" y="10058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5A3725"/>
                </a:solidFill>
                <a:latin typeface="GayaPatched" pitchFamily="34" charset="0"/>
                <a:ea typeface="GayaPatched" pitchFamily="34" charset="-122"/>
                <a:cs typeface="GayaPatched" pitchFamily="34" charset="-120"/>
              </a:rPr>
              <a:t>Un módulo. Tres ciclos al trimestre.</a:t>
            </a:r>
            <a:endParaRPr lang="en-US" sz="2800" dirty="0"/>
          </a:p>
          <a:p>
            <a:pPr algn="l" indent="0" marL="0">
              <a:buNone/>
            </a:pPr>
            <a:r>
              <a:rPr lang="en-US" sz="2800" dirty="0">
                <a:solidFill>
                  <a:srgbClr val="5A3725"/>
                </a:solidFill>
                <a:latin typeface="GayaPatched" pitchFamily="34" charset="0"/>
                <a:ea typeface="GayaPatched" pitchFamily="34" charset="-122"/>
                <a:cs typeface="GayaPatched" pitchFamily="34" charset="-120"/>
              </a:rPr>
              <a:t>Margen verificable.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77240" y="3108960"/>
            <a:ext cx="2606040" cy="1737360"/>
          </a:xfrm>
          <a:prstGeom prst="rect">
            <a:avLst/>
          </a:prstGeom>
          <a:solidFill>
            <a:srgbClr val="E8DCC0"/>
          </a:solidFill>
          <a:ln w="12700">
            <a:solidFill>
              <a:srgbClr val="E8DC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3108960"/>
            <a:ext cx="2606040" cy="54864"/>
          </a:xfrm>
          <a:prstGeom prst="rect">
            <a:avLst/>
          </a:prstGeom>
          <a:solidFill>
            <a:srgbClr val="8C4026"/>
          </a:solidFill>
          <a:ln w="12700">
            <a:solidFill>
              <a:srgbClr val="8C40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33375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8C4026"/>
                </a:solidFill>
                <a:latin typeface="GayaPatched" pitchFamily="34" charset="0"/>
                <a:ea typeface="GayaPatched" pitchFamily="34" charset="-122"/>
                <a:cs typeface="GayaPatched" pitchFamily="34" charset="-120"/>
              </a:rPr>
              <a:t>~6 sem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41148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37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Ciclo completo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A37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inoculación → cosecha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520440" y="3108960"/>
            <a:ext cx="2606040" cy="1737360"/>
          </a:xfrm>
          <a:prstGeom prst="rect">
            <a:avLst/>
          </a:prstGeom>
          <a:solidFill>
            <a:srgbClr val="E8DCC0"/>
          </a:solidFill>
          <a:ln w="12700">
            <a:solidFill>
              <a:srgbClr val="E8DC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3108960"/>
            <a:ext cx="2606040" cy="54864"/>
          </a:xfrm>
          <a:prstGeom prst="rect">
            <a:avLst/>
          </a:prstGeom>
          <a:solidFill>
            <a:srgbClr val="8C4026"/>
          </a:solidFill>
          <a:ln w="12700">
            <a:solidFill>
              <a:srgbClr val="8C40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03320" y="33375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8C4026"/>
                </a:solidFill>
                <a:latin typeface="GayaPatched" pitchFamily="34" charset="0"/>
                <a:ea typeface="GayaPatched" pitchFamily="34" charset="-122"/>
                <a:cs typeface="GayaPatched" pitchFamily="34" charset="-120"/>
              </a:rPr>
              <a:t>40–60 kg/sem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703320" y="41148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37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Producción por módulo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A37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 ~40 m²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63640" y="3108960"/>
            <a:ext cx="2606040" cy="1737360"/>
          </a:xfrm>
          <a:prstGeom prst="rect">
            <a:avLst/>
          </a:prstGeom>
          <a:solidFill>
            <a:srgbClr val="E8DCC0"/>
          </a:solidFill>
          <a:ln w="12700">
            <a:solidFill>
              <a:srgbClr val="E8DCC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3108960"/>
            <a:ext cx="2606040" cy="54864"/>
          </a:xfrm>
          <a:prstGeom prst="rect">
            <a:avLst/>
          </a:prstGeom>
          <a:solidFill>
            <a:srgbClr val="8C4026"/>
          </a:solidFill>
          <a:ln w="12700">
            <a:solidFill>
              <a:srgbClr val="8C40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33375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8C4026"/>
                </a:solidFill>
                <a:latin typeface="GayaPatched" pitchFamily="34" charset="0"/>
                <a:ea typeface="GayaPatched" pitchFamily="34" charset="-122"/>
                <a:cs typeface="GayaPatched" pitchFamily="34" charset="-120"/>
              </a:rPr>
              <a:t>$20–28k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46520" y="41148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37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COP/kg precio B2B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A37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orellana fresca gourmet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006840" y="3108960"/>
            <a:ext cx="2606040" cy="1737360"/>
          </a:xfrm>
          <a:prstGeom prst="rect">
            <a:avLst/>
          </a:prstGeom>
          <a:solidFill>
            <a:srgbClr val="E8DCC0"/>
          </a:solidFill>
          <a:ln w="12700">
            <a:solidFill>
              <a:srgbClr val="E8DCC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06840" y="3108960"/>
            <a:ext cx="2606040" cy="54864"/>
          </a:xfrm>
          <a:prstGeom prst="rect">
            <a:avLst/>
          </a:prstGeom>
          <a:solidFill>
            <a:srgbClr val="8C4026"/>
          </a:solidFill>
          <a:ln w="12700">
            <a:solidFill>
              <a:srgbClr val="8C40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89720" y="33375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8C4026"/>
                </a:solidFill>
                <a:latin typeface="GayaPatched" pitchFamily="34" charset="0"/>
                <a:ea typeface="GayaPatched" pitchFamily="34" charset="-122"/>
                <a:cs typeface="GayaPatched" pitchFamily="34" charset="-120"/>
              </a:rPr>
              <a:t>50–60%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189720" y="41148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37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Margen bruto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A37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estimado por módulo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77240" y="50749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8C402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SUPUESTOS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7240" y="5349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5A37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Eficiencia biológica del 25–35% sobre peso de sustrato (rango estándar para Pleurotus ostreatus en operaciones bien gestionadas).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5A37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Precio observable en distribución B2B a restaurantes gourmet de Bogotá; varía con temporada y volumen contratado.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5A37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Margen bruto excluye depreciación de infraestructura, costos administrativos y de comercialización. Cálculo completo disponible bajo NDA.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A37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Setas de la Peña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37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E8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36576" cy="5760720"/>
          </a:xfrm>
          <a:prstGeom prst="rect">
            <a:avLst/>
          </a:prstGeom>
          <a:solidFill>
            <a:srgbClr val="8C4026"/>
          </a:solidFill>
          <a:ln w="12700">
            <a:solidFill>
              <a:srgbClr val="8C40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8C402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 — DÓNDE ESTAMOS, A DÓNDE VAMOS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" y="10058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5A3725"/>
                </a:solidFill>
                <a:latin typeface="GayaPatched" pitchFamily="34" charset="0"/>
                <a:ea typeface="GayaPatched" pitchFamily="34" charset="-122"/>
                <a:cs typeface="GayaPatched" pitchFamily="34" charset="-120"/>
              </a:rPr>
              <a:t>De módulo piloto a operación de seis módulos</a:t>
            </a:r>
            <a:endParaRPr lang="en-US" sz="2800" dirty="0"/>
          </a:p>
          <a:p>
            <a:pPr algn="l" indent="0" marL="0">
              <a:buNone/>
            </a:pPr>
            <a:r>
              <a:rPr lang="en-US" sz="2800" dirty="0">
                <a:solidFill>
                  <a:srgbClr val="5A3725"/>
                </a:solidFill>
                <a:latin typeface="GayaPatched" pitchFamily="34" charset="0"/>
                <a:ea typeface="GayaPatched" pitchFamily="34" charset="-122"/>
                <a:cs typeface="GayaPatched" pitchFamily="34" charset="-120"/>
              </a:rPr>
              <a:t>en 24 meses.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68680" y="3200400"/>
            <a:ext cx="8076895" cy="36576"/>
          </a:xfrm>
          <a:prstGeom prst="rect">
            <a:avLst/>
          </a:prstGeom>
          <a:solidFill>
            <a:srgbClr val="8C4026"/>
          </a:solidFill>
          <a:ln w="12700">
            <a:solidFill>
              <a:srgbClr val="8C40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3081528"/>
            <a:ext cx="274320" cy="274320"/>
          </a:xfrm>
          <a:prstGeom prst="ellipse">
            <a:avLst/>
          </a:prstGeom>
          <a:solidFill>
            <a:srgbClr val="8C4026"/>
          </a:solidFill>
          <a:ln w="12700">
            <a:solidFill>
              <a:srgbClr val="8C40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5603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8C402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A3725"/>
                </a:solidFill>
                <a:latin typeface="GayaPatched" pitchFamily="34" charset="0"/>
                <a:ea typeface="GayaPatched" pitchFamily="34" charset="-122"/>
                <a:cs typeface="GayaPatched" pitchFamily="34" charset="-120"/>
              </a:rPr>
              <a:t>Módulo piloto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4206240"/>
            <a:ext cx="2514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37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Infraestructura básica en marcha. Primeros clientes B2B confirmados. Validación de ciclo de cultivo.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42106" y="3081528"/>
            <a:ext cx="274320" cy="274320"/>
          </a:xfrm>
          <a:prstGeom prst="ellipse">
            <a:avLst/>
          </a:prstGeom>
          <a:solidFill>
            <a:srgbClr val="8C4026"/>
          </a:solidFill>
          <a:ln w="12700">
            <a:solidFill>
              <a:srgbClr val="8C40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15258" y="25603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8C402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+6 MESES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15258" y="35661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A3725"/>
                </a:solidFill>
                <a:latin typeface="GayaPatched" pitchFamily="34" charset="0"/>
                <a:ea typeface="GayaPatched" pitchFamily="34" charset="-122"/>
                <a:cs typeface="GayaPatched" pitchFamily="34" charset="-120"/>
              </a:rPr>
              <a:t>Dos módulos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15258" y="4206240"/>
            <a:ext cx="2514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37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80–100 kg/sem. Cartera B2B activa en Bogotá. Procesos operativos documentados.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34405" y="3081528"/>
            <a:ext cx="274320" cy="274320"/>
          </a:xfrm>
          <a:prstGeom prst="ellipse">
            <a:avLst/>
          </a:prstGeom>
          <a:solidFill>
            <a:srgbClr val="8C4026"/>
          </a:solidFill>
          <a:ln w="12700">
            <a:solidFill>
              <a:srgbClr val="8C40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07557" y="25603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8C402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+12 MESES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07557" y="35661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A3725"/>
                </a:solidFill>
                <a:latin typeface="GayaPatched" pitchFamily="34" charset="0"/>
                <a:ea typeface="GayaPatched" pitchFamily="34" charset="-122"/>
                <a:cs typeface="GayaPatched" pitchFamily="34" charset="-120"/>
              </a:rPr>
              <a:t>Cuatro módulos + deshidratado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07557" y="4206240"/>
            <a:ext cx="2514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37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160–220 kg/sem. Línea deshidratada en mercado. Trazabilidad completa por cámara.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826703" y="3081528"/>
            <a:ext cx="274320" cy="274320"/>
          </a:xfrm>
          <a:prstGeom prst="ellipse">
            <a:avLst/>
          </a:prstGeom>
          <a:solidFill>
            <a:srgbClr val="8C4026"/>
          </a:solidFill>
          <a:ln w="12700">
            <a:solidFill>
              <a:srgbClr val="8C40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99855" y="25603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8C402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+24 MESES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899855" y="35661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A3725"/>
                </a:solidFill>
                <a:latin typeface="GayaPatched" pitchFamily="34" charset="0"/>
                <a:ea typeface="GayaPatched" pitchFamily="34" charset="-122"/>
                <a:cs typeface="GayaPatched" pitchFamily="34" charset="-120"/>
              </a:rPr>
              <a:t>Seis módulos + extractos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899855" y="4206240"/>
            <a:ext cx="2514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37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240–340 kg/sem. Línea de extractos con registro INVIMA. Exportación piloto exploratoria.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A37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Setas de la Peña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37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E8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36576" cy="5760720"/>
          </a:xfrm>
          <a:prstGeom prst="rect">
            <a:avLst/>
          </a:prstGeom>
          <a:solidFill>
            <a:srgbClr val="8C4026"/>
          </a:solidFill>
          <a:ln w="12700">
            <a:solidFill>
              <a:srgbClr val="8C40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8C402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 — CAPITAL DE EXPANSIÓN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" y="1005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5A3725"/>
                </a:solidFill>
                <a:latin typeface="GayaPatched" pitchFamily="34" charset="0"/>
                <a:ea typeface="GayaPatched" pitchFamily="34" charset="-122"/>
                <a:cs typeface="GayaPatched" pitchFamily="34" charset="-120"/>
              </a:rPr>
              <a:t>Lo que buscamos. Lo que ofrecemos.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2194560"/>
            <a:ext cx="5029200" cy="3931920"/>
          </a:xfrm>
          <a:prstGeom prst="rect">
            <a:avLst/>
          </a:prstGeom>
          <a:solidFill>
            <a:srgbClr val="8C4026"/>
          </a:solidFill>
          <a:ln w="12700">
            <a:solidFill>
              <a:srgbClr val="8C40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25603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2E8D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 ASK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3000" y="29718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E8D6"/>
                </a:solidFill>
                <a:latin typeface="GayaPatched" pitchFamily="34" charset="0"/>
                <a:ea typeface="GayaPatched" pitchFamily="34" charset="-122"/>
                <a:cs typeface="GayaPatched" pitchFamily="34" charset="-120"/>
              </a:rPr>
              <a:t>Capital de expansión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3000" y="34747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2E8D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[$ — monto a discutir según perfil y volumen del socio]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40690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2E8D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DESTINO DE FONDOS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" y="4389120"/>
            <a:ext cx="4297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2E8D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Infraestructura modular (cámaras 2–4)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2E8D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Automatización (sensórica, control clima)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2E8D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Capital operativo (sustrato, micelio, nómina)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2E8D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Línea deshidratada (equipamiento de secado)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63640" y="2286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8C402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QUÉ OFRECEMOS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63640" y="26974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3725"/>
                </a:solidFill>
                <a:latin typeface="GayaPatched" pitchFamily="34" charset="0"/>
                <a:ea typeface="GayaPatched" pitchFamily="34" charset="-122"/>
                <a:cs typeface="GayaPatched" pitchFamily="34" charset="-120"/>
              </a:rPr>
              <a:t>Tres estructuras posibles, a discutir.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63640" y="3429000"/>
            <a:ext cx="73152" cy="777240"/>
          </a:xfrm>
          <a:prstGeom prst="rect">
            <a:avLst/>
          </a:prstGeom>
          <a:solidFill>
            <a:srgbClr val="4C5B3A"/>
          </a:solidFill>
          <a:ln w="12700">
            <a:solidFill>
              <a:srgbClr val="4C5B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33832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A3725"/>
                </a:solidFill>
                <a:latin typeface="GayaPatched" pitchFamily="34" charset="0"/>
                <a:ea typeface="GayaPatched" pitchFamily="34" charset="-122"/>
                <a:cs typeface="GayaPatched" pitchFamily="34" charset="-120"/>
              </a:rPr>
              <a:t>Participación accionaria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374904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37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Equity proporcional al aporte. Adecuado para socios que buscan retorno de largo plazo y participación en gobierno.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63640" y="4343400"/>
            <a:ext cx="73152" cy="777240"/>
          </a:xfrm>
          <a:prstGeom prst="rect">
            <a:avLst/>
          </a:prstGeom>
          <a:solidFill>
            <a:srgbClr val="4C5B3A"/>
          </a:solidFill>
          <a:ln w="12700">
            <a:solidFill>
              <a:srgbClr val="4C5B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4297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A3725"/>
                </a:solidFill>
                <a:latin typeface="GayaPatched" pitchFamily="34" charset="0"/>
                <a:ea typeface="GayaPatched" pitchFamily="34" charset="-122"/>
                <a:cs typeface="GayaPatched" pitchFamily="34" charset="-120"/>
              </a:rPr>
              <a:t>Acuerdo de off-take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92240" y="466344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37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Compromiso de compra a precio preferencial a cambio de financiación parcial. Adecuado para distribuidores y operadores comerciales.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63640" y="5257800"/>
            <a:ext cx="73152" cy="777240"/>
          </a:xfrm>
          <a:prstGeom prst="rect">
            <a:avLst/>
          </a:prstGeom>
          <a:solidFill>
            <a:srgbClr val="4C5B3A"/>
          </a:solidFill>
          <a:ln w="12700">
            <a:solidFill>
              <a:srgbClr val="4C5B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5212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A3725"/>
                </a:solidFill>
                <a:latin typeface="GayaPatched" pitchFamily="34" charset="0"/>
                <a:ea typeface="GayaPatched" pitchFamily="34" charset="-122"/>
                <a:cs typeface="GayaPatched" pitchFamily="34" charset="-120"/>
              </a:rPr>
              <a:t>Convertible / mixto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92240" y="557784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37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Instrumento híbrido (deuda convertible o estructura escalonada). A discutir caso por caso según perfil de riesgo.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A37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Setas de la Peña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37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8C4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0312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i="1" dirty="0">
                <a:solidFill>
                  <a:srgbClr val="F2E8D6"/>
                </a:solidFill>
                <a:latin typeface="GayaPatched" pitchFamily="34" charset="0"/>
                <a:ea typeface="GayaPatched" pitchFamily="34" charset="-122"/>
                <a:cs typeface="GayaPatched" pitchFamily="34" charset="-120"/>
              </a:rPr>
              <a:t>A las faldas de Juaica.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640080" y="3840480"/>
            <a:ext cx="548640" cy="36576"/>
          </a:xfrm>
          <a:prstGeom prst="rect">
            <a:avLst/>
          </a:prstGeom>
          <a:solidFill>
            <a:srgbClr val="F2E8D6"/>
          </a:solidFill>
          <a:ln w="12700">
            <a:solidFill>
              <a:srgbClr val="F2E8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60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2E8D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CONTACTO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E8D6"/>
                </a:solidFill>
                <a:latin typeface="GayaPatched" pitchFamily="34" charset="0"/>
                <a:ea typeface="GayaPatched" pitchFamily="34" charset="-122"/>
                <a:cs typeface="GayaPatched" pitchFamily="34" charset="-120"/>
              </a:rPr>
              <a:t>Sebastián Pinzón Silva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4937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E8D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spinzonsilva@gmail.com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5257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E8D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Tenjo, Cundinamarca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4160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2E8D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PRÓXIMOS PASOS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675120" y="448056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2E8D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Visita a la finca en Tenjo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2E8D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Cifras detalladas bajo NDA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2E8D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Conversación de estructura y términos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F2E8D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Setas de la Peña · Pleurotus de precisión · Tenjo, Cundinamarca ·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Setas de la Peña — Presentación a Socios</dc:title>
  <dc:subject>Capital de expansión — primer contacto</dc:subject>
  <dc:creator>Sebastián Pinzón Silva</dc:creator>
  <cp:lastModifiedBy>Sebastián Pinzón Silva</cp:lastModifiedBy>
  <cp:revision>1</cp:revision>
  <dcterms:created xsi:type="dcterms:W3CDTF">2026-05-11T22:11:50Z</dcterms:created>
  <dcterms:modified xsi:type="dcterms:W3CDTF">2026-05-11T22:11:50Z</dcterms:modified>
</cp:coreProperties>
</file>